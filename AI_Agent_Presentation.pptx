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rom Zero to Agent Building" id="{09844204-BA6B-47CB-B6BC-6E77CF8E6158}">
          <p14:sldIdLst>
            <p14:sldId id="2561"/>
          </p14:sldIdLst>
        </p14:section>
        <p14:section name="Introduction" id="{EC18EB43-FDE0-4629-BD03-04123C30708E}">
          <p14:sldIdLst>
            <p14:sldId id="2562"/>
            <p14:sldId id="2563"/>
          </p14:sldIdLst>
        </p14:section>
        <p14:section name="Understanding the Limitations of LLMs" id="{5B528EFB-2646-4979-B003-BD3E06BA7BB0}">
          <p14:sldIdLst>
            <p14:sldId id="2564"/>
            <p14:sldId id="2565"/>
          </p14:sldIdLst>
        </p14:section>
        <p14:section name="Introducing AI Agents" id="{8718D00C-1105-433C-8736-7CCCF64565D9}">
          <p14:sldIdLst>
            <p14:sldId id="2566"/>
            <p14:sldId id="2567"/>
          </p14:sldIdLst>
        </p14:section>
        <p14:section name="Building Agents with strands SDK" id="{7C1ECBFA-1507-4F1D-BD00-0CC147021203}">
          <p14:sldIdLst>
            <p14:sldId id="2568"/>
            <p14:sldId id="2569"/>
          </p14:sldIdLst>
        </p14:section>
        <p14:section name="Demonstrating a Multi-Tool Agent" id="{DFE5915D-C26A-4256-A9AB-3F965952A74C}">
          <p14:sldIdLst>
            <p14:sldId id="2570"/>
            <p14:sldId id="2571"/>
          </p14:sldIdLst>
        </p14:section>
        <p14:section name="Live Demonstration" id="{9FEA0217-9ADD-41FF-A7C3-24D0FA88FB12}">
          <p14:sldIdLst>
            <p14:sldId id="2572"/>
            <p14:sldId id="2573"/>
          </p14:sldIdLst>
        </p14:section>
        <p14:section name="Conclusion" id="{9B6C35FE-5CAC-4B60-9FB4-452A1641347F}">
          <p14:sldIdLst>
            <p14:sldId id="2574"/>
            <p14:sldId id="25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0660C3-D19F-4848-B04D-2B783AD423C9}" v="12" dt="2025-11-04T13:03:09.530"/>
    <p1510:client id="{B21EFBC9-6491-495F-A932-74722AAE62FC}" v="18" dt="2025-11-04T10:27:10.5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51" d="100"/>
          <a:sy n="51" d="100"/>
        </p:scale>
        <p:origin x="1256" y="264"/>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6823C-FC66-4623-8AA3-DE2626F37F34}" type="datetimeFigureOut">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EE090-451B-44AC-99BC-88615855007A}" type="slidenum">
              <a:t>‹#›</a:t>
            </a:fld>
            <a:endParaRPr lang="en-US"/>
          </a:p>
        </p:txBody>
      </p:sp>
    </p:spTree>
    <p:extLst>
      <p:ext uri="{BB962C8B-B14F-4D97-AF65-F5344CB8AC3E}">
        <p14:creationId xmlns:p14="http://schemas.microsoft.com/office/powerpoint/2010/main" val="261913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786A52F3-1E6A-4243-A4EE-8F12F6076FCF}" type="slidenum">
              <a:t>1</a:t>
            </a:fld>
            <a:endParaRPr lang="en-US"/>
          </a:p>
        </p:txBody>
      </p:sp>
    </p:spTree>
    <p:extLst>
      <p:ext uri="{BB962C8B-B14F-4D97-AF65-F5344CB8AC3E}">
        <p14:creationId xmlns:p14="http://schemas.microsoft.com/office/powerpoint/2010/main" val="2403153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Zero to Agent Building</a:t>
            </a:r>
          </a:p>
        </p:txBody>
      </p:sp>
      <p:sp>
        <p:nvSpPr>
          <p:cNvPr id="4" name="Slide Number Placeholder 3"/>
          <p:cNvSpPr>
            <a:spLocks noGrp="1"/>
          </p:cNvSpPr>
          <p:nvPr>
            <p:ph type="sldNum" sz="quarter" idx="5"/>
          </p:nvPr>
        </p:nvSpPr>
        <p:spPr/>
        <p:txBody>
          <a:bodyPr/>
          <a:lstStyle/>
          <a:p>
            <a:fld id="{786A52F3-1E6A-4243-A4EE-8F12F6076FCF}" type="slidenum">
              <a:t>2</a:t>
            </a:fld>
            <a:endParaRPr lang="en-US"/>
          </a:p>
        </p:txBody>
      </p:sp>
    </p:spTree>
    <p:extLst>
      <p:ext uri="{BB962C8B-B14F-4D97-AF65-F5344CB8AC3E}">
        <p14:creationId xmlns:p14="http://schemas.microsoft.com/office/powerpoint/2010/main" val="2474325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introduces the concept of building a fully functional AI agent capable of reasoning, planning, and acting on private data within a short timeframe. The goal is to demonstrate how to construct a 'company brain' using tools and internal data, leveraging the capabilities of large language models (LLMs) like Gemini. The session promises a live demonstration of creating an AI agent from scratch, showcasing its ability to interact with internal data and perform tasks intelligently. This sets the stage for understanding the limitations of traditional LLMs and the advantages of agent-based systems.</a:t>
            </a:r>
          </a:p>
        </p:txBody>
      </p:sp>
      <p:sp>
        <p:nvSpPr>
          <p:cNvPr id="4" name="Slide Number Placeholder 3"/>
          <p:cNvSpPr>
            <a:spLocks noGrp="1"/>
          </p:cNvSpPr>
          <p:nvPr>
            <p:ph type="sldNum" sz="quarter" idx="5"/>
          </p:nvPr>
        </p:nvSpPr>
        <p:spPr/>
        <p:txBody>
          <a:bodyPr/>
          <a:lstStyle/>
          <a:p>
            <a:fld id="{786A52F3-1E6A-4243-A4EE-8F12F6076FCF}" type="slidenum">
              <a:t>3</a:t>
            </a:fld>
            <a:endParaRPr lang="en-US"/>
          </a:p>
        </p:txBody>
      </p:sp>
    </p:spTree>
    <p:extLst>
      <p:ext uri="{BB962C8B-B14F-4D97-AF65-F5344CB8AC3E}">
        <p14:creationId xmlns:p14="http://schemas.microsoft.com/office/powerpoint/2010/main" val="2545559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"Brain in a Jar" Problem</a:t>
            </a:r>
          </a:p>
        </p:txBody>
      </p:sp>
      <p:sp>
        <p:nvSpPr>
          <p:cNvPr id="4" name="Slide Number Placeholder 3"/>
          <p:cNvSpPr>
            <a:spLocks noGrp="1"/>
          </p:cNvSpPr>
          <p:nvPr>
            <p:ph type="sldNum" sz="quarter" idx="5"/>
          </p:nvPr>
        </p:nvSpPr>
        <p:spPr/>
        <p:txBody>
          <a:bodyPr/>
          <a:lstStyle/>
          <a:p>
            <a:fld id="{786A52F3-1E6A-4243-A4EE-8F12F6076FCF}" type="slidenum">
              <a:t>4</a:t>
            </a:fld>
            <a:endParaRPr lang="en-US"/>
          </a:p>
        </p:txBody>
      </p:sp>
    </p:spTree>
    <p:extLst>
      <p:ext uri="{BB962C8B-B14F-4D97-AF65-F5344CB8AC3E}">
        <p14:creationId xmlns:p14="http://schemas.microsoft.com/office/powerpoint/2010/main" val="1103103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Large Language Models (LLMs) such as ChatGPT and Gemini are highly proficient in handling general knowledge and generating human-like text. However, they are inherently passive systems that lack the ability to perform actions or interact with external environments. This limitation is often referred to as the 'Brain in a Jar' problem, where the model can converse but cannot execute tasks, access real-time data, or understand proprietary internal information. For instance, asking an LLM about a specific internal project like 'Project GAIA' yields no useful response because the model has no access to private company data. This highlights a critical gap in the utility of LLMs for enterprise applications, where contextual awareness and actionable intelligence are essential.</a:t>
            </a:r>
          </a:p>
        </p:txBody>
      </p:sp>
      <p:sp>
        <p:nvSpPr>
          <p:cNvPr id="4" name="Slide Number Placeholder 3"/>
          <p:cNvSpPr>
            <a:spLocks noGrp="1"/>
          </p:cNvSpPr>
          <p:nvPr>
            <p:ph type="sldNum" sz="quarter" idx="5"/>
          </p:nvPr>
        </p:nvSpPr>
        <p:spPr/>
        <p:txBody>
          <a:bodyPr/>
          <a:lstStyle/>
          <a:p>
            <a:fld id="{786A52F3-1E6A-4243-A4EE-8F12F6076FCF}" type="slidenum">
              <a:t>5</a:t>
            </a:fld>
            <a:endParaRPr lang="en-US"/>
          </a:p>
        </p:txBody>
      </p:sp>
    </p:spTree>
    <p:extLst>
      <p:ext uri="{BB962C8B-B14F-4D97-AF65-F5344CB8AC3E}">
        <p14:creationId xmlns:p14="http://schemas.microsoft.com/office/powerpoint/2010/main" val="4291511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Solution: AI Agents</a:t>
            </a:r>
          </a:p>
        </p:txBody>
      </p:sp>
      <p:sp>
        <p:nvSpPr>
          <p:cNvPr id="4" name="Slide Number Placeholder 3"/>
          <p:cNvSpPr>
            <a:spLocks noGrp="1"/>
          </p:cNvSpPr>
          <p:nvPr>
            <p:ph type="sldNum" sz="quarter" idx="5"/>
          </p:nvPr>
        </p:nvSpPr>
        <p:spPr/>
        <p:txBody>
          <a:bodyPr/>
          <a:lstStyle/>
          <a:p>
            <a:fld id="{786A52F3-1E6A-4243-A4EE-8F12F6076FCF}" type="slidenum">
              <a:t>6</a:t>
            </a:fld>
            <a:endParaRPr lang="en-US"/>
          </a:p>
        </p:txBody>
      </p:sp>
    </p:spTree>
    <p:extLst>
      <p:ext uri="{BB962C8B-B14F-4D97-AF65-F5344CB8AC3E}">
        <p14:creationId xmlns:p14="http://schemas.microsoft.com/office/powerpoint/2010/main" val="3080517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AI agents represent an evolution of LLMs by integrating reasoning, planning, and action capabilities. An agent uses an LLM to interpret user intent (Reason), determine the necessary steps to fulfill the request (Plan), execute those steps using tools (Act), and evaluate the outcomes (Observe). This iterative process is known as the ReAct loop—Reason and Act. By embedding tools and enabling interaction with external systems, agents transform passive LLMs into dynamic problem solvers. This architecture allows agents to perform tasks such as calculations, data retrieval, and decision-making based on real-time and proprietary information, making them suitable for complex enterprise use cases.</a:t>
            </a:r>
          </a:p>
        </p:txBody>
      </p:sp>
      <p:sp>
        <p:nvSpPr>
          <p:cNvPr id="4" name="Slide Number Placeholder 3"/>
          <p:cNvSpPr>
            <a:spLocks noGrp="1"/>
          </p:cNvSpPr>
          <p:nvPr>
            <p:ph type="sldNum" sz="quarter" idx="5"/>
          </p:nvPr>
        </p:nvSpPr>
        <p:spPr/>
        <p:txBody>
          <a:bodyPr/>
          <a:lstStyle/>
          <a:p>
            <a:fld id="{786A52F3-1E6A-4243-A4EE-8F12F6076FCF}" type="slidenum">
              <a:t>7</a:t>
            </a:fld>
            <a:endParaRPr lang="en-US"/>
          </a:p>
        </p:txBody>
      </p:sp>
    </p:spTree>
    <p:extLst>
      <p:ext uri="{BB962C8B-B14F-4D97-AF65-F5344CB8AC3E}">
        <p14:creationId xmlns:p14="http://schemas.microsoft.com/office/powerpoint/2010/main" val="1173672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We Build This: The strands SDK</a:t>
            </a:r>
          </a:p>
        </p:txBody>
      </p:sp>
      <p:sp>
        <p:nvSpPr>
          <p:cNvPr id="4" name="Slide Number Placeholder 3"/>
          <p:cNvSpPr>
            <a:spLocks noGrp="1"/>
          </p:cNvSpPr>
          <p:nvPr>
            <p:ph type="sldNum" sz="quarter" idx="5"/>
          </p:nvPr>
        </p:nvSpPr>
        <p:spPr/>
        <p:txBody>
          <a:bodyPr/>
          <a:lstStyle/>
          <a:p>
            <a:fld id="{786A52F3-1E6A-4243-A4EE-8F12F6076FCF}" type="slidenum">
              <a:t>8</a:t>
            </a:fld>
            <a:endParaRPr lang="en-US"/>
          </a:p>
        </p:txBody>
      </p:sp>
    </p:spTree>
    <p:extLst>
      <p:ext uri="{BB962C8B-B14F-4D97-AF65-F5344CB8AC3E}">
        <p14:creationId xmlns:p14="http://schemas.microsoft.com/office/powerpoint/2010/main" val="224714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Constructing an AI agent manually involves intricate prompting, error handling, and integration logic, which can be challenging and time-consuming. The strands SDK simplifies this process by providing a model-agnostic framework compatible with Gemini, OpenAI, and Anthropic models. Developers can create tools by writing standard Python functions and annotating them with the @tool decorator. These tools are then registered with the strands.Agent, which manages the ReAct loop and tool invocation. This abstraction allows developers to focus on functionality rather than orchestration, enabling rapid development of intelligent agents that can interact with internal data and perform complex tasks.</a:t>
            </a:r>
          </a:p>
        </p:txBody>
      </p:sp>
      <p:sp>
        <p:nvSpPr>
          <p:cNvPr id="4" name="Slide Number Placeholder 3"/>
          <p:cNvSpPr>
            <a:spLocks noGrp="1"/>
          </p:cNvSpPr>
          <p:nvPr>
            <p:ph type="sldNum" sz="quarter" idx="5"/>
          </p:nvPr>
        </p:nvSpPr>
        <p:spPr/>
        <p:txBody>
          <a:bodyPr/>
          <a:lstStyle/>
          <a:p>
            <a:fld id="{786A52F3-1E6A-4243-A4EE-8F12F6076FCF}" type="slidenum">
              <a:t>9</a:t>
            </a:fld>
            <a:endParaRPr lang="en-US"/>
          </a:p>
        </p:txBody>
      </p:sp>
    </p:spTree>
    <p:extLst>
      <p:ext uri="{BB962C8B-B14F-4D97-AF65-F5344CB8AC3E}">
        <p14:creationId xmlns:p14="http://schemas.microsoft.com/office/powerpoint/2010/main" val="3628299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Today's Use Case: A Multi-Tool "Company Brain"</a:t>
            </a:r>
          </a:p>
        </p:txBody>
      </p:sp>
      <p:sp>
        <p:nvSpPr>
          <p:cNvPr id="4" name="Slide Number Placeholder 3"/>
          <p:cNvSpPr>
            <a:spLocks noGrp="1"/>
          </p:cNvSpPr>
          <p:nvPr>
            <p:ph type="sldNum" sz="quarter" idx="5"/>
          </p:nvPr>
        </p:nvSpPr>
        <p:spPr/>
        <p:txBody>
          <a:bodyPr/>
          <a:lstStyle/>
          <a:p>
            <a:fld id="{786A52F3-1E6A-4243-A4EE-8F12F6076FCF}" type="slidenum">
              <a:t>10</a:t>
            </a:fld>
            <a:endParaRPr lang="en-US"/>
          </a:p>
        </p:txBody>
      </p:sp>
    </p:spTree>
    <p:extLst>
      <p:ext uri="{BB962C8B-B14F-4D97-AF65-F5344CB8AC3E}">
        <p14:creationId xmlns:p14="http://schemas.microsoft.com/office/powerpoint/2010/main" val="2318427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demonstration showcases a Gemini-powered agent equipped with three distinct tools: current_time, calculator, and search_knowledge_base. The current_time tool retrieves real-time data, the calculator performs mathematical operations, and the search_knowledge_base accesses a private text file containing proprietary company information. The objective is to evaluate the agent's ability to intelligently select the appropriate tool based on the user's query. This use case illustrates the agent's contextual understanding and decision-making capabilities, proving its effectiveness in handling diverse tasks and interacting with internal data sources. It sets the foundation for building robust enterprise solutions like internal helpdesks and data-driven automation systems.</a:t>
            </a:r>
          </a:p>
        </p:txBody>
      </p:sp>
      <p:sp>
        <p:nvSpPr>
          <p:cNvPr id="4" name="Slide Number Placeholder 3"/>
          <p:cNvSpPr>
            <a:spLocks noGrp="1"/>
          </p:cNvSpPr>
          <p:nvPr>
            <p:ph type="sldNum" sz="quarter" idx="5"/>
          </p:nvPr>
        </p:nvSpPr>
        <p:spPr/>
        <p:txBody>
          <a:bodyPr/>
          <a:lstStyle/>
          <a:p>
            <a:fld id="{786A52F3-1E6A-4243-A4EE-8F12F6076FCF}" type="slidenum">
              <a:t>11</a:t>
            </a:fld>
            <a:endParaRPr lang="en-US"/>
          </a:p>
        </p:txBody>
      </p:sp>
    </p:spTree>
    <p:extLst>
      <p:ext uri="{BB962C8B-B14F-4D97-AF65-F5344CB8AC3E}">
        <p14:creationId xmlns:p14="http://schemas.microsoft.com/office/powerpoint/2010/main" val="1150343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LIVE DEMO 🚀</a:t>
            </a:r>
          </a:p>
        </p:txBody>
      </p:sp>
      <p:sp>
        <p:nvSpPr>
          <p:cNvPr id="4" name="Slide Number Placeholder 3"/>
          <p:cNvSpPr>
            <a:spLocks noGrp="1"/>
          </p:cNvSpPr>
          <p:nvPr>
            <p:ph type="sldNum" sz="quarter" idx="5"/>
          </p:nvPr>
        </p:nvSpPr>
        <p:spPr/>
        <p:txBody>
          <a:bodyPr/>
          <a:lstStyle/>
          <a:p>
            <a:fld id="{786A52F3-1E6A-4243-A4EE-8F12F6076FCF}" type="slidenum">
              <a:t>12</a:t>
            </a:fld>
            <a:endParaRPr lang="en-US"/>
          </a:p>
        </p:txBody>
      </p:sp>
    </p:spTree>
    <p:extLst>
      <p:ext uri="{BB962C8B-B14F-4D97-AF65-F5344CB8AC3E}">
        <p14:creationId xmlns:p14="http://schemas.microsoft.com/office/powerpoint/2010/main" val="38934702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live demo begins by introducing the knowledge_base.txt file, which serves as the agent's internal data source. The demo_rag.py script illustrates the agent's configuration, including the integration of pre-built tools and a custom search_knowledge_base tool. Several prompts are executed to test the agent's capabilities: identifying the capital of France (no tool needed), retrieving the GAIA codename (uses search_knowledge_base), checking the current time and solving math problems (uses respective tools), and a final complex query that requires combining all three tools. This demonstration highlights the agent's ability to reason through tasks, select appropriate tools, and synthesize information from multiple sources to deliver accurate and contextually relevant responses.</a:t>
            </a:r>
          </a:p>
        </p:txBody>
      </p:sp>
      <p:sp>
        <p:nvSpPr>
          <p:cNvPr id="4" name="Slide Number Placeholder 3"/>
          <p:cNvSpPr>
            <a:spLocks noGrp="1"/>
          </p:cNvSpPr>
          <p:nvPr>
            <p:ph type="sldNum" sz="quarter" idx="5"/>
          </p:nvPr>
        </p:nvSpPr>
        <p:spPr/>
        <p:txBody>
          <a:bodyPr/>
          <a:lstStyle/>
          <a:p>
            <a:fld id="{786A52F3-1E6A-4243-A4EE-8F12F6076FCF}" type="slidenum">
              <a:t>13</a:t>
            </a:fld>
            <a:endParaRPr lang="en-US"/>
          </a:p>
        </p:txBody>
      </p:sp>
    </p:spTree>
    <p:extLst>
      <p:ext uri="{BB962C8B-B14F-4D97-AF65-F5344CB8AC3E}">
        <p14:creationId xmlns:p14="http://schemas.microsoft.com/office/powerpoint/2010/main" val="8480055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Takeaways</a:t>
            </a:r>
          </a:p>
        </p:txBody>
      </p:sp>
      <p:sp>
        <p:nvSpPr>
          <p:cNvPr id="4" name="Slide Number Placeholder 3"/>
          <p:cNvSpPr>
            <a:spLocks noGrp="1"/>
          </p:cNvSpPr>
          <p:nvPr>
            <p:ph type="sldNum" sz="quarter" idx="5"/>
          </p:nvPr>
        </p:nvSpPr>
        <p:spPr/>
        <p:txBody>
          <a:bodyPr/>
          <a:lstStyle/>
          <a:p>
            <a:fld id="{786A52F3-1E6A-4243-A4EE-8F12F6076FCF}" type="slidenum">
              <a:t>14</a:t>
            </a:fld>
            <a:endParaRPr lang="en-US"/>
          </a:p>
        </p:txBody>
      </p:sp>
    </p:spTree>
    <p:extLst>
      <p:ext uri="{BB962C8B-B14F-4D97-AF65-F5344CB8AC3E}">
        <p14:creationId xmlns:p14="http://schemas.microsoft.com/office/powerpoint/2010/main" val="30967049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presentation concludes with key insights into the power and utility of AI agents. Agents extend the capabilities of LLMs by integrating tools that enable action and interaction with external data. The strands SDK simplifies agent development through its intuitive @tool decorator and model-agnostic design. Most importantly, the agent's intelligent tool selection demonstrates its ability to understand context and execute tasks effectively. These features form the backbone of advanced AI applications such as 'Chat with your data,' internal helpdesks, and real-world task automation. The session underscores the transformative potential of agents in enterprise environments, paving the way for smarter, more responsive AI systems.</a:t>
            </a:r>
          </a:p>
        </p:txBody>
      </p:sp>
      <p:sp>
        <p:nvSpPr>
          <p:cNvPr id="4" name="Slide Number Placeholder 3"/>
          <p:cNvSpPr>
            <a:spLocks noGrp="1"/>
          </p:cNvSpPr>
          <p:nvPr>
            <p:ph type="sldNum" sz="quarter" idx="5"/>
          </p:nvPr>
        </p:nvSpPr>
        <p:spPr/>
        <p:txBody>
          <a:bodyPr/>
          <a:lstStyle/>
          <a:p>
            <a:fld id="{786A52F3-1E6A-4243-A4EE-8F12F6076FCF}" type="slidenum">
              <a:t>15</a:t>
            </a:fld>
            <a:endParaRPr lang="en-US"/>
          </a:p>
        </p:txBody>
      </p:sp>
    </p:spTree>
    <p:extLst>
      <p:ext uri="{BB962C8B-B14F-4D97-AF65-F5344CB8AC3E}">
        <p14:creationId xmlns:p14="http://schemas.microsoft.com/office/powerpoint/2010/main" val="12224611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 uri="{C183D7F6-B498-43B3-948B-1728B52AA6E4}">
                <adec:decorative xmlns:adec="http://schemas.microsoft.com/office/drawing/2017/decorative" val="1"/>
              </a:ext>
            </a:extLst>
          </p:cNvPr>
          <p:cNvSpPr/>
          <p:nvPr/>
        </p:nvSpPr>
        <p:spPr>
          <a:xfrm>
            <a:off x="5067300" y="-429"/>
            <a:ext cx="7142987" cy="6858429"/>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 uri="{C183D7F6-B498-43B3-948B-1728B52AA6E4}">
                <adec:decorative xmlns:adec="http://schemas.microsoft.com/office/drawing/2017/decorative" val="1"/>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 uri="{C183D7F6-B498-43B3-948B-1728B52AA6E4}">
                <adec:decorative xmlns:adec="http://schemas.microsoft.com/office/drawing/2017/decorative" val="1"/>
              </a:ext>
            </a:extLst>
          </p:cNvPr>
          <p:cNvSpPr/>
          <p:nvPr/>
        </p:nvSpPr>
        <p:spPr>
          <a:xfrm rot="10800000">
            <a:off x="5067300" y="4571999"/>
            <a:ext cx="7140054"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 uri="{C183D7F6-B498-43B3-948B-1728B52AA6E4}">
                <adec:decorative xmlns:adec="http://schemas.microsoft.com/office/drawing/2017/decorative" val="1"/>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endParaRPr lang="en-US" dirty="0"/>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tx1"/>
                </a:solidFill>
              </a:defRPr>
            </a:lvl1pPr>
          </a:lstStyle>
          <a:p>
            <a:fld id="{8AF2F4EA-388B-424B-AC17-965C10DAF675}"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466085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E7ACF9F-8FDB-4ADC-A9FD-4B179047B36A}"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 uri="{C183D7F6-B498-43B3-948B-1728B52AA6E4}">
                <adec:decorative xmlns:adec="http://schemas.microsoft.com/office/drawing/2017/decorative" val="1"/>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 uri="{C183D7F6-B498-43B3-948B-1728B52AA6E4}">
                <adec:decorative xmlns:adec="http://schemas.microsoft.com/office/drawing/2017/decorative" val="1"/>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 uri="{C183D7F6-B498-43B3-948B-1728B52AA6E4}">
                <adec:decorative xmlns:adec="http://schemas.microsoft.com/office/drawing/2017/decorative" val="1"/>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 uri="{C183D7F6-B498-43B3-948B-1728B52AA6E4}">
                <adec:decorative xmlns:adec="http://schemas.microsoft.com/office/drawing/2017/decorative" val="1"/>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tx1"/>
                </a:solidFill>
                <a:latin typeface="+mj-lt"/>
              </a:defRPr>
            </a:lvl1pPr>
          </a:lstStyle>
          <a:p>
            <a:pPr lvl="0"/>
            <a:r>
              <a:rPr lang="en-US"/>
              <a:t>Click to edit Master subtitle style</a:t>
            </a:r>
            <a:endParaRPr lang="en-US" dirty="0"/>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tx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tx1"/>
                </a:solidFill>
              </a:defRPr>
            </a:lvl1pPr>
          </a:lstStyle>
          <a:p>
            <a:fld id="{3D4AF38C-0923-462D-8E8F-DFB1FB3CD655}" type="datetime2">
              <a:rPr lang="en-US" smtClean="0"/>
              <a:t>Tuesday, November 4, 2025</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5192733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 uri="{C183D7F6-B498-43B3-948B-1728B52AA6E4}">
                <adec:decorative xmlns:adec="http://schemas.microsoft.com/office/drawing/2017/decorative" val="1"/>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 uri="{C183D7F6-B498-43B3-948B-1728B52AA6E4}">
                <adec:decorative xmlns:adec="http://schemas.microsoft.com/office/drawing/2017/decorative" val="1"/>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 uri="{C183D7F6-B498-43B3-948B-1728B52AA6E4}">
                <adec:decorative xmlns:adec="http://schemas.microsoft.com/office/drawing/2017/decorative" val="1"/>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 uri="{C183D7F6-B498-43B3-948B-1728B52AA6E4}">
                <adec:decorative xmlns:adec="http://schemas.microsoft.com/office/drawing/2017/decorative" val="1"/>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tx1"/>
                </a:solidFill>
              </a:defRPr>
            </a:lvl1pPr>
          </a:lstStyle>
          <a:p>
            <a:fld id="{5531B838-A2A1-4E5F-8CE5-ED5C785421C8}"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643556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 uri="{C183D7F6-B498-43B3-948B-1728B52AA6E4}">
                <adec:decorative xmlns:adec="http://schemas.microsoft.com/office/drawing/2017/decorative" val="1"/>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 uri="{C183D7F6-B498-43B3-948B-1728B52AA6E4}">
                <adec:decorative xmlns:adec="http://schemas.microsoft.com/office/drawing/2017/decorative" val="1"/>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 uri="{C183D7F6-B498-43B3-948B-1728B52AA6E4}">
                <adec:decorative xmlns:adec="http://schemas.microsoft.com/office/drawing/2017/decorative" val="1"/>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tx1"/>
                </a:solidFill>
                <a:latin typeface="+mj-lt"/>
              </a:defRPr>
            </a:lvl1pPr>
          </a:lstStyle>
          <a:p>
            <a:pPr lvl="0"/>
            <a:r>
              <a:rPr lang="en-US"/>
              <a:t>Click to edit Master subtitle style</a:t>
            </a:r>
            <a:endParaRPr lang="en-US" dirty="0"/>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tx1"/>
                </a:solidFill>
              </a:defRPr>
            </a:lvl1pPr>
          </a:lstStyle>
          <a:p>
            <a:fld id="{B369E90C-83BE-474F-8867-84D9D4BA9A64}" type="datetime2">
              <a:rPr lang="en-US" smtClean="0"/>
              <a:t>Tuesday, November 4, 2025</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801579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 uri="{C183D7F6-B498-43B3-948B-1728B52AA6E4}">
                <adec:decorative xmlns:adec="http://schemas.microsoft.com/office/drawing/2017/decorative" val="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 uri="{C183D7F6-B498-43B3-948B-1728B52AA6E4}">
                <adec:decorative xmlns:adec="http://schemas.microsoft.com/office/drawing/2017/decorative" val="1"/>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 uri="{C183D7F6-B498-43B3-948B-1728B52AA6E4}">
                <adec:decorative xmlns:adec="http://schemas.microsoft.com/office/drawing/2017/decorative" val="1"/>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 uri="{C183D7F6-B498-43B3-948B-1728B52AA6E4}">
                <adec:decorative xmlns:adec="http://schemas.microsoft.com/office/drawing/2017/decorative" val="1"/>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 uri="{C183D7F6-B498-43B3-948B-1728B52AA6E4}">
                <adec:decorative xmlns:adec="http://schemas.microsoft.com/office/drawing/2017/decorative" val="1"/>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 uri="{C183D7F6-B498-43B3-948B-1728B52AA6E4}">
                <adec:decorative xmlns:adec="http://schemas.microsoft.com/office/drawing/2017/decorative" val="1"/>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tx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tx1"/>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B5CA67-94ED-4C14-9B73-CCE5A85B4E93}"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861105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C38FEA-146D-53B3-36B0-5CBD8040636E}"/>
              </a:ext>
              <a:ext uri="{C183D7F6-B498-43B3-948B-1728B52AA6E4}">
                <adec:decorative xmlns:adec="http://schemas.microsoft.com/office/drawing/2017/decorative" val="1"/>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 uri="{C183D7F6-B498-43B3-948B-1728B52AA6E4}">
                <adec:decorative xmlns:adec="http://schemas.microsoft.com/office/drawing/2017/decorative" val="1"/>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 uri="{C183D7F6-B498-43B3-948B-1728B52AA6E4}">
                <adec:decorative xmlns:adec="http://schemas.microsoft.com/office/drawing/2017/decorative" val="1"/>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 uri="{C183D7F6-B498-43B3-948B-1728B52AA6E4}">
                <adec:decorative xmlns:adec="http://schemas.microsoft.com/office/drawing/2017/decorative" val="1"/>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a:t>Click to edit Master subtitle style</a:t>
            </a:r>
            <a:endParaRPr lang="en-US" dirty="0"/>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7723C116-3055-4F7F-9A49-EB260F9EF6F6}" type="datetime2">
              <a:rPr lang="en-US" smtClean="0"/>
              <a:t>Tuesday, November 4, 2025</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18519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Title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E2F783-0ED7-1F0B-219A-198549E350DD}"/>
              </a:ext>
              <a:ext uri="{C183D7F6-B498-43B3-948B-1728B52AA6E4}">
                <adec:decorative xmlns:adec="http://schemas.microsoft.com/office/drawing/2017/decorative" val="1"/>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 uri="{C183D7F6-B498-43B3-948B-1728B52AA6E4}">
                <adec:decorative xmlns:adec="http://schemas.microsoft.com/office/drawing/2017/decorative" val="1"/>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 uri="{C183D7F6-B498-43B3-948B-1728B52AA6E4}">
                <adec:decorative xmlns:adec="http://schemas.microsoft.com/office/drawing/2017/decorative" val="1"/>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 uri="{C183D7F6-B498-43B3-948B-1728B52AA6E4}">
                <adec:decorative xmlns:adec="http://schemas.microsoft.com/office/drawing/2017/decorative" val="1"/>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a:t>Click to edit Master subtitle style</a:t>
            </a:r>
            <a:endParaRPr lang="en-US" dirty="0"/>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A6A5EF91-D53E-428D-B2CB-7C1F753E44DB}" type="datetime2">
              <a:rPr lang="en-US" smtClean="0"/>
              <a:t>Tuesday, November 4, 2025</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6551022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 uri="{C183D7F6-B498-43B3-948B-1728B52AA6E4}">
                <adec:decorative xmlns:adec="http://schemas.microsoft.com/office/drawing/2017/decorative" val="1"/>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 uri="{C183D7F6-B498-43B3-948B-1728B52AA6E4}">
                <adec:decorative xmlns:adec="http://schemas.microsoft.com/office/drawing/2017/decorative" val="1"/>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 uri="{C183D7F6-B498-43B3-948B-1728B52AA6E4}">
                <adec:decorative xmlns:adec="http://schemas.microsoft.com/office/drawing/2017/decorative" val="1"/>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 uri="{C183D7F6-B498-43B3-948B-1728B52AA6E4}">
                <adec:decorative xmlns:adec="http://schemas.microsoft.com/office/drawing/2017/decorative" val="1"/>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 uri="{C183D7F6-B498-43B3-948B-1728B52AA6E4}">
                <adec:decorative xmlns:adec="http://schemas.microsoft.com/office/drawing/2017/decorative" val="1"/>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 uri="{C183D7F6-B498-43B3-948B-1728B52AA6E4}">
                <adec:decorative xmlns:adec="http://schemas.microsoft.com/office/drawing/2017/decorative" val="0"/>
              </a:ext>
            </a:extLst>
          </p:cNvPr>
          <p:cNvSpPr>
            <a:spLocks noGrp="1"/>
          </p:cNvSpPr>
          <p:nvPr>
            <p:ph type="title"/>
          </p:nvPr>
        </p:nvSpPr>
        <p:spPr>
          <a:xfrm>
            <a:off x="3657600" y="2807208"/>
            <a:ext cx="7772400" cy="3346704"/>
          </a:xfrm>
        </p:spPr>
        <p:txBody>
          <a:bodyPr anchor="t">
            <a:normAutofit/>
          </a:bodyPr>
          <a:lstStyle>
            <a:lvl1pPr>
              <a:lnSpc>
                <a:spcPct val="110000"/>
              </a:lnSpc>
              <a:defRPr sz="5400" cap="all" spc="700"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B4EA7F42-44CA-4E2D-BE54-54E50F1A95AA}"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237459441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 uri="{C183D7F6-B498-43B3-948B-1728B52AA6E4}">
                <adec:decorative xmlns:adec="http://schemas.microsoft.com/office/drawing/2017/decorative" val="1"/>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 uri="{C183D7F6-B498-43B3-948B-1728B52AA6E4}">
                <adec:decorative xmlns:adec="http://schemas.microsoft.com/office/drawing/2017/decorative" val="1"/>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 uri="{C183D7F6-B498-43B3-948B-1728B52AA6E4}">
                <adec:decorative xmlns:adec="http://schemas.microsoft.com/office/drawing/2017/decorative" val="1"/>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 uri="{C183D7F6-B498-43B3-948B-1728B52AA6E4}">
                <adec:decorative xmlns:adec="http://schemas.microsoft.com/office/drawing/2017/decorative" val="1"/>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 uri="{C183D7F6-B498-43B3-948B-1728B52AA6E4}">
                <adec:decorative xmlns:adec="http://schemas.microsoft.com/office/drawing/2017/decorative" val="1"/>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 uri="{C183D7F6-B498-43B3-948B-1728B52AA6E4}">
                <adec:decorative xmlns:adec="http://schemas.microsoft.com/office/drawing/2017/decorative" val="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A5F6D2C8-34B4-4D49-8BA1-BACB1E5E91D7}"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375111834"/>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735CD2-2790-A02E-C1A3-EB251A110779}"/>
              </a:ext>
              <a:ext uri="{C183D7F6-B498-43B3-948B-1728B52AA6E4}">
                <adec:decorative xmlns:adec="http://schemas.microsoft.com/office/drawing/2017/decorative" val="1"/>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 uri="{C183D7F6-B498-43B3-948B-1728B52AA6E4}">
                <adec:decorative xmlns:adec="http://schemas.microsoft.com/office/drawing/2017/decorative" val="1"/>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 uri="{C183D7F6-B498-43B3-948B-1728B52AA6E4}">
                <adec:decorative xmlns:adec="http://schemas.microsoft.com/office/drawing/2017/decorative" val="1"/>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 uri="{C183D7F6-B498-43B3-948B-1728B52AA6E4}">
                <adec:decorative xmlns:adec="http://schemas.microsoft.com/office/drawing/2017/decorative" val="1"/>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07FA98E2-6F7F-4A51-8E1F-EB59A50F0269}" type="datetime2">
              <a:rPr lang="en-US" smtClean="0"/>
              <a:t>Tuesday, November 4, 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94035622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150BB71E-4F8F-41C0-A92F-F3C4EFE8AC7B}" type="datetime2">
              <a:rPr lang="en-US" smtClean="0"/>
              <a:t>Tuesday, November 4, 2025</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161023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8963436-5FD3-4DBA-BA14-7BB2834C5EC5}"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2DB3D6C-C357-4A18-98FF-C5DAE1A10B46}"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6848E0B-8A0C-48E4-ADBA-2AC6A8CE7CBF}"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CBDCCA7-F1A7-4374-A53E-DDBF6669B4DA}"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33554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7A4E53C8-4441-4494-9A33-9A60A8C010FF}"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574857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8606AF-234E-F01C-E350-3E326E5ABE30}"/>
              </a:ext>
              <a:ext uri="{C183D7F6-B498-43B3-948B-1728B52AA6E4}">
                <adec:decorative xmlns:adec="http://schemas.microsoft.com/office/drawing/2017/decorative" val="1"/>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 uri="{C183D7F6-B498-43B3-948B-1728B52AA6E4}">
                <adec:decorative xmlns:adec="http://schemas.microsoft.com/office/drawing/2017/decorative" val="1"/>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 uri="{C183D7F6-B498-43B3-948B-1728B52AA6E4}">
                <adec:decorative xmlns:adec="http://schemas.microsoft.com/office/drawing/2017/decorative" val="1"/>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27853E-A83C-4AE4-BB8D-D1C2F70D8524}"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56591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358C6A-FFB7-7F91-94AA-423822AA8C38}"/>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 uri="{C183D7F6-B498-43B3-948B-1728B52AA6E4}">
                <adec:decorative xmlns:adec="http://schemas.microsoft.com/office/drawing/2017/decorative" val="1"/>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2BDBDAA-674F-41A5-9B7A-63B7C6B4BF31}" type="datetime2">
              <a:rPr lang="en-US" smtClean="0"/>
              <a:t>Tuesday, November 4,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214047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C72D07-FB95-F16C-6535-C8AEB3ACAFA0}"/>
              </a:ext>
              <a:ext uri="{C183D7F6-B498-43B3-948B-1728B52AA6E4}">
                <adec:decorative xmlns:adec="http://schemas.microsoft.com/office/drawing/2017/decorative" val="1"/>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 uri="{C183D7F6-B498-43B3-948B-1728B52AA6E4}">
                <adec:decorative xmlns:adec="http://schemas.microsoft.com/office/drawing/2017/decorative" val="1"/>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15508136-2BE5-4DEB-BFFF-CA82AE75DA81}" type="datetime2">
              <a:rPr lang="en-US" smtClean="0"/>
              <a:t>Tuesday, November 4,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DB1A6A-A82E-C28C-BC71-E59067A1D47F}"/>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 uri="{C183D7F6-B498-43B3-948B-1728B52AA6E4}">
                <adec:decorative xmlns:adec="http://schemas.microsoft.com/office/drawing/2017/decorative" val="1"/>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8CA907A-57F4-4BE4-B9CF-66B2A48FC3D2}" type="datetime2">
              <a:rPr lang="en-US" smtClean="0"/>
              <a:t>Tuesday, November 4,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7197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0" y="-1"/>
            <a:ext cx="5247320" cy="6400369"/>
          </a:xfrm>
          <a:blipFill>
            <a:blip r:embed="rId2">
              <a:alphaModFix amt="70000"/>
            </a:blip>
            <a:stretch>
              <a:fillRect/>
            </a:stretch>
          </a:blipFill>
        </p:spPr>
        <p:txBody>
          <a:bodyPr/>
          <a:lstStyle>
            <a:lvl1pPr marL="0" indent="0">
              <a:buNone/>
              <a:defRPr/>
            </a:lvl1pPr>
          </a:lstStyle>
          <a:p>
            <a:r>
              <a:rPr lang="en-US" dirty="0"/>
              <a:t> </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a:xfrm>
            <a:off x="67056" y="6455664"/>
            <a:ext cx="3557016" cy="365760"/>
          </a:xfrm>
        </p:spPr>
        <p:txBody>
          <a:bodyPr/>
          <a:lstStyle>
            <a:lvl1pPr>
              <a:defRPr>
                <a:solidFill>
                  <a:schemeClr val="bg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F8C0C47F-6992-403B-A8BD-DAD08522434F}" type="datetime2">
              <a:rPr lang="en-US" smtClean="0"/>
              <a:t>Tuesday, November 4, 2025</a:t>
            </a:fld>
            <a:endParaRPr lang="en-US" dirty="0"/>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5593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6922008" y="6400799"/>
            <a:ext cx="526998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5440680" cy="1197864"/>
          </a:xfrm>
        </p:spPr>
        <p:txBody>
          <a:bodyPr anchor="b"/>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F6328336-AE7A-4C2D-0270-493DC7303B6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31520"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922008" y="-1"/>
            <a:ext cx="5269992" cy="6400369"/>
          </a:xfrm>
          <a:blipFill>
            <a:blip r:embed="rId2">
              <a:alphaModFix amt="70000"/>
            </a:blip>
            <a:stretch>
              <a:fillRect/>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ACE75CBF-C3DD-595A-4D09-0BDBE3A20100}"/>
              </a:ext>
            </a:extLst>
          </p:cNvPr>
          <p:cNvSpPr>
            <a:spLocks noGrp="1"/>
          </p:cNvSpPr>
          <p:nvPr>
            <p:ph type="dt" sz="half" idx="16"/>
          </p:nvPr>
        </p:nvSpPr>
        <p:spPr/>
        <p:txBody>
          <a:bodyPr/>
          <a:lstStyle/>
          <a:p>
            <a:fld id="{4EE2BF70-051F-4182-B873-1FBEE890188B}" type="datetime2">
              <a:rPr lang="en-US" smtClean="0"/>
              <a:t>Tuesday, November 4, 2025</a:t>
            </a:fld>
            <a:endParaRPr lang="en-US"/>
          </a:p>
        </p:txBody>
      </p:sp>
      <p:sp>
        <p:nvSpPr>
          <p:cNvPr id="5" name="Slide Number Placeholder 4">
            <a:extLst>
              <a:ext uri="{FF2B5EF4-FFF2-40B4-BE49-F238E27FC236}">
                <a16:creationId xmlns:a16="http://schemas.microsoft.com/office/drawing/2014/main" id="{FFC4C584-842E-9FEF-D13D-CAA866F0BFEA}"/>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23006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1E3123-7D9E-2A08-F196-CDF340945D9D}"/>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 uri="{C183D7F6-B498-43B3-948B-1728B52AA6E4}">
                <adec:decorative xmlns:adec="http://schemas.microsoft.com/office/drawing/2017/decorative" val="1"/>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a:t>Click to edit Master title style</a:t>
            </a:r>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2B29163A-D4FD-4B13-B760-29FEA46D26A0}" type="datetime2">
              <a:rPr lang="en-US" smtClean="0"/>
              <a:t>Tuesday, November 4,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a:t>Click to edit Master title style</a:t>
            </a:r>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dirty="0"/>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BF31E3F0-C597-454C-9C6A-C05C00896517}" type="datetime2">
              <a:rPr lang="en-US" smtClean="0"/>
              <a:t>Tuesday, November 4,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204121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a:t>Click to edit Master title style</a:t>
            </a:r>
            <a:endParaRPr lang="en-US" dirty="0"/>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dirty="0"/>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64C03E46-357C-41AA-B644-5D238512659D}" type="datetime2">
              <a:rPr lang="en-US" smtClean="0"/>
              <a:t>Tuesday, November 4, 2025</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803533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DBABC61-0C94-EB2C-729D-13A2A74C04A2}"/>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F7317806-C1A4-4898-A392-58092F2DAC1E}" type="datetime2">
              <a:rPr lang="en-US" smtClean="0"/>
              <a:t>Tuesday, November 4, 2025</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8923169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460BC6-378A-8F4F-1D44-FA6677F92D4E}"/>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5EBE550A-BFEE-40D6-A0EE-F4BD2148E98A}" type="datetime2">
              <a:rPr lang="en-US" smtClean="0"/>
              <a:t>Tuesday, November 4, 2025</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0035166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dirty="0"/>
              <a:t> </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3F60DE63-5C97-4D17-AD5B-559BE78F8C6E}" type="datetime2">
              <a:rPr lang="en-US" smtClean="0"/>
              <a:t>Tuesday, November 4, 2025</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379209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BED10C-5619-54D2-5D2D-E5D0A3E26E93}"/>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 uri="{C183D7F6-B498-43B3-948B-1728B52AA6E4}">
                <adec:decorative xmlns:adec="http://schemas.microsoft.com/office/drawing/2017/decorative" val="1"/>
              </a:ext>
            </a:extLst>
          </p:cNvPr>
          <p:cNvSpPr/>
          <p:nvPr/>
        </p:nvSpPr>
        <p:spPr>
          <a:xfrm flipH="1">
            <a:off x="6945630" y="6401228"/>
            <a:ext cx="5246366"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C3B1CEA-5D85-42AB-95DF-BF2F02172CA4}" type="datetime2">
              <a:rPr lang="en-US" smtClean="0"/>
              <a:t>Tuesday, November 4,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093A5D-CF9E-656F-6E4D-BBE26617BBEC}"/>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 uri="{C183D7F6-B498-43B3-948B-1728B52AA6E4}">
                <adec:decorative xmlns:adec="http://schemas.microsoft.com/office/drawing/2017/decorative" val="1"/>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B5151AB-126F-4C4D-9C0D-9B9B07DC1CFA}" type="datetime2">
              <a:rPr lang="en-US" smtClean="0"/>
              <a:t>Tuesday, November 4,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78578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EA2F20-DFC9-8EAE-10DC-BC89113C2D4F}"/>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 uri="{C183D7F6-B498-43B3-948B-1728B52AA6E4}">
                <adec:decorative xmlns:adec="http://schemas.microsoft.com/office/drawing/2017/decorative" val="1"/>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8EB0D61-5867-4B60-96C2-F34431D24F0C}" type="datetime2">
              <a:rPr lang="en-US" smtClean="0"/>
              <a:t>Tuesday, November 4,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 uri="{C183D7F6-B498-43B3-948B-1728B52AA6E4}">
                <adec:decorative xmlns:adec="http://schemas.microsoft.com/office/drawing/2017/decorative" val="1"/>
              </a:ext>
            </a:extLst>
          </p:cNvPr>
          <p:cNvSpPr/>
          <p:nvPr/>
        </p:nvSpPr>
        <p:spPr>
          <a:xfrm>
            <a:off x="-18286" y="4719145"/>
            <a:ext cx="12221346" cy="21489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solidFill>
                  <a:schemeClr val="bg1"/>
                </a:solidFill>
                <a:latin typeface="+mn-lt"/>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tx1"/>
                </a:solidFill>
                <a:latin typeface="+mj-lt"/>
              </a:defRPr>
            </a:lvl1pPr>
          </a:lstStyle>
          <a:p>
            <a:pPr lvl="0"/>
            <a:r>
              <a:rPr lang="en-US" dirty="0"/>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774365B4-2BDD-42A8-8AD0-4FD66D3F5C4E}" type="datetime2">
              <a:rPr lang="en-US" smtClean="0"/>
              <a:t>Tuesday, November 4, 2025</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51987367"/>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Number Larg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 uri="{C183D7F6-B498-43B3-948B-1728B52AA6E4}">
                <adec:decorative xmlns:adec="http://schemas.microsoft.com/office/drawing/2017/decorative" val="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 uri="{C183D7F6-B498-43B3-948B-1728B52AA6E4}">
                <adec:decorative xmlns:adec="http://schemas.microsoft.com/office/drawing/2017/decorative" val="1"/>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 uri="{C183D7F6-B498-43B3-948B-1728B52AA6E4}">
                <adec:decorative xmlns:adec="http://schemas.microsoft.com/office/drawing/2017/decorative" val="1"/>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 uri="{C183D7F6-B498-43B3-948B-1728B52AA6E4}">
                <adec:decorative xmlns:adec="http://schemas.microsoft.com/office/drawing/2017/decorative" val="1"/>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tx1"/>
                </a:solidFill>
                <a:latin typeface="+mn-lt"/>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tx1"/>
                </a:solidFill>
                <a:latin typeface="+mj-lt"/>
              </a:defRPr>
            </a:lvl1pPr>
          </a:lstStyle>
          <a:p>
            <a:pPr lvl="0"/>
            <a:r>
              <a:rPr lang="en-US" dirty="0"/>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18042AE0-E8A0-4C07-BDCE-3F5EAB477031}" type="datetime2">
              <a:rPr lang="en-US" smtClean="0"/>
              <a:t>Tuesday, November 4, 2025</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82734611"/>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a:t>Click to edit Master title style</a:t>
            </a:r>
            <a:endParaRPr lang="en-US" dirty="0"/>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dirty="0"/>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118D1234-C791-4FA0-B7BF-3B97E1AFD349}" type="datetime2">
              <a:rPr lang="en-US" smtClean="0"/>
              <a:t>Tuesday, November 4, 2025</a:t>
            </a:fld>
            <a:endParaRPr lang="en-US" dirty="0"/>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213799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FA70C64-A82F-539E-FA22-E9EDFA88F0CB}"/>
              </a:ext>
              <a:ext uri="{C183D7F6-B498-43B3-948B-1728B52AA6E4}">
                <adec:decorative xmlns:adec="http://schemas.microsoft.com/office/drawing/2017/decorative" val="1"/>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 uri="{C183D7F6-B498-43B3-948B-1728B52AA6E4}">
                <adec:decorative xmlns:adec="http://schemas.microsoft.com/office/drawing/2017/decorative" val="1"/>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 uri="{C183D7F6-B498-43B3-948B-1728B52AA6E4}">
                <adec:decorative xmlns:adec="http://schemas.microsoft.com/office/drawing/2017/decorative" val="1"/>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 uri="{C183D7F6-B498-43B3-948B-1728B52AA6E4}">
                <adec:decorative xmlns:adec="http://schemas.microsoft.com/office/drawing/2017/decorative" val="1"/>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D599FD6B-A98A-41CE-AE80-E9BFC922155F}" type="datetime2">
              <a:rPr lang="en-US" smtClean="0"/>
              <a:t>Tuesday, November 4,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792323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952A27B-DA16-4786-8944-4B1CF34905EE}" type="datetime2">
              <a:rPr lang="en-US" smtClean="0"/>
              <a:t>Tuesday, November 4,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942459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 uri="{C183D7F6-B498-43B3-948B-1728B52AA6E4}">
                <adec:decorative xmlns:adec="http://schemas.microsoft.com/office/drawing/2017/decorative" val="1"/>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 uri="{C183D7F6-B498-43B3-948B-1728B52AA6E4}">
                <adec:decorative xmlns:adec="http://schemas.microsoft.com/office/drawing/2017/decorative" val="1"/>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5DA190-1DE0-42AE-81F7-BAE9BB470D89}" type="datetime2">
              <a:rPr lang="en-US" smtClean="0"/>
              <a:t>Tuesday, November 4, 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526282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 uri="{C183D7F6-B498-43B3-948B-1728B52AA6E4}">
                <adec:decorative xmlns:adec="http://schemas.microsoft.com/office/drawing/2017/decorative" val="1"/>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 uri="{C183D7F6-B498-43B3-948B-1728B52AA6E4}">
                <adec:decorative xmlns:adec="http://schemas.microsoft.com/office/drawing/2017/decorative" val="1"/>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dirty="0"/>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2100A192-F923-4AB4-BDCC-6ACB26A0AAAE}" type="datetime2">
              <a:rPr lang="en-US" smtClean="0"/>
              <a:t>Tuesday, November 4, 2025</a:t>
            </a:fld>
            <a:endParaRPr lang="en-US" dirty="0"/>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2115647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 uri="{C183D7F6-B498-43B3-948B-1728B52AA6E4}">
                <adec:decorative xmlns:adec="http://schemas.microsoft.com/office/drawing/2017/decorative" val="1"/>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 uri="{C183D7F6-B498-43B3-948B-1728B52AA6E4}">
                <adec:decorative xmlns:adec="http://schemas.microsoft.com/office/drawing/2017/decorative" val="1"/>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 uri="{C183D7F6-B498-43B3-948B-1728B52AA6E4}">
                <adec:decorative xmlns:adec="http://schemas.microsoft.com/office/drawing/2017/decorative" val="1"/>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 uri="{C183D7F6-B498-43B3-948B-1728B52AA6E4}">
                <adec:decorative xmlns:adec="http://schemas.microsoft.com/office/drawing/2017/decorative" val="1"/>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tx1"/>
                </a:solidFill>
              </a:defRPr>
            </a:lvl1pPr>
          </a:lstStyle>
          <a:p>
            <a:pPr lvl="0"/>
            <a:r>
              <a:rPr lang="en-US" dirty="0"/>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tx1"/>
                </a:solidFill>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bg1"/>
                </a:solidFill>
              </a:defRPr>
            </a:lvl1pPr>
          </a:lstStyle>
          <a:p>
            <a:fld id="{F3769460-8E62-40CA-83A8-CB830C3D7F18}" type="datetime2">
              <a:rPr lang="en-US" smtClean="0"/>
              <a:t>Tuesday, November 4, 2025</a:t>
            </a:fld>
            <a:endParaRPr lang="en-US" dirty="0"/>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885779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 uri="{C183D7F6-B498-43B3-948B-1728B52AA6E4}">
                <adec:decorative xmlns:adec="http://schemas.microsoft.com/office/drawing/2017/decorative" val="1"/>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 uri="{C183D7F6-B498-43B3-948B-1728B52AA6E4}">
                <adec:decorative xmlns:adec="http://schemas.microsoft.com/office/drawing/2017/decorative" val="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dirty="0"/>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dirty="0"/>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4D9BF413-3F81-4C14-A195-E47B863670C3}" type="datetime2">
              <a:rPr lang="en-US" smtClean="0"/>
              <a:t>Tuesday, November 4, 2025</a:t>
            </a:fld>
            <a:endParaRPr lang="en-US" dirty="0"/>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911058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0D0CE8AB-DD53-DE37-0172-0F4C2D9FEBDA}"/>
              </a:ext>
            </a:extLst>
          </p:cNvPr>
          <p:cNvSpPr>
            <a:spLocks noGrp="1"/>
          </p:cNvSpPr>
          <p:nvPr>
            <p:ph sz="quarter" idx="15"/>
          </p:nvPr>
        </p:nvSpPr>
        <p:spPr>
          <a:xfrm>
            <a:off x="731838"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3467A339-2191-25DF-DA14-F9F1C27E8EBD}"/>
              </a:ext>
            </a:extLst>
          </p:cNvPr>
          <p:cNvSpPr>
            <a:spLocks noGrp="1"/>
          </p:cNvSpPr>
          <p:nvPr>
            <p:ph sz="quarter" idx="16"/>
          </p:nvPr>
        </p:nvSpPr>
        <p:spPr>
          <a:xfrm>
            <a:off x="6500813"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3F1486C-F518-4593-A9F9-71F14C909BBB}" type="datetime2">
              <a:rPr lang="en-US" smtClean="0"/>
              <a:t>Tuesday, November 4, 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D0ED8F7-2A3F-80A9-EF90-A2A4073C69D3}"/>
              </a:ext>
            </a:extLst>
          </p:cNvPr>
          <p:cNvSpPr>
            <a:spLocks noGrp="1"/>
          </p:cNvSpPr>
          <p:nvPr>
            <p:ph sz="quarter" idx="15"/>
          </p:nvPr>
        </p:nvSpPr>
        <p:spPr>
          <a:xfrm>
            <a:off x="731838" y="2020888"/>
            <a:ext cx="507365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4">
            <a:extLst>
              <a:ext uri="{FF2B5EF4-FFF2-40B4-BE49-F238E27FC236}">
                <a16:creationId xmlns:a16="http://schemas.microsoft.com/office/drawing/2014/main" id="{5D723F4E-0022-57BD-B68A-67BA61881741}"/>
              </a:ext>
            </a:extLst>
          </p:cNvPr>
          <p:cNvSpPr>
            <a:spLocks noGrp="1"/>
          </p:cNvSpPr>
          <p:nvPr>
            <p:ph sz="quarter" idx="16"/>
          </p:nvPr>
        </p:nvSpPr>
        <p:spPr>
          <a:xfrm>
            <a:off x="6500813" y="2020888"/>
            <a:ext cx="50752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54DDA2C-4D95-4DB6-BF4A-4F688D05F62F}" type="datetime2">
              <a:rPr lang="en-US" smtClean="0"/>
              <a:t>Tuesday, November 4, 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2AE4565-505C-457E-BFE9-7CA5ED3C51C4}" type="datetime2">
              <a:rPr lang="en-US" smtClean="0"/>
              <a:t>Tuesday, November 4, 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E882EFDC-6A75-4D73-91E7-2ECC26E96D93}" type="datetime2">
              <a:rPr lang="en-US" smtClean="0"/>
              <a:t>Tuesday, November 4, 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2"/>
            <a:ext cx="3309608" cy="38245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58207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4B8D072B-0F30-4743-AD00-90BD7F92FC91}" type="datetime2">
              <a:rPr lang="en-US" smtClean="0"/>
              <a:t>Tuesday, November 4, 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F8FF1A8-4BF9-4B7D-9A44-0F91B76D49BD}" type="datetime2">
              <a:rPr lang="en-US" smtClean="0"/>
              <a:t>Tuesday, November 4, 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690216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1DC8D0-ECB3-9C81-4ADA-D2C30B00B146}"/>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 uri="{C183D7F6-B498-43B3-948B-1728B52AA6E4}">
                <adec:decorative xmlns:adec="http://schemas.microsoft.com/office/drawing/2017/decorative" val="1"/>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F7636FB-A6BA-4E3C-9023-5FBFE4689724}"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5662841"/>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617130E-6216-789E-BE08-6D1E3E75622B}"/>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 uri="{C183D7F6-B498-43B3-948B-1728B52AA6E4}">
                <adec:decorative xmlns:adec="http://schemas.microsoft.com/office/drawing/2017/decorative" val="1"/>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BFE3FE3-B74C-4213-AB2F-60F99F3419C3}"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7397011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 uri="{C183D7F6-B498-43B3-948B-1728B52AA6E4}">
                <adec:decorative xmlns:adec="http://schemas.microsoft.com/office/drawing/2017/decorative" val="1"/>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 uri="{C183D7F6-B498-43B3-948B-1728B52AA6E4}">
                <adec:decorative xmlns:adec="http://schemas.microsoft.com/office/drawing/2017/decorative" val="1"/>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39174FB3-ACF6-4A9B-9D1F-91EEB8A6966E}" type="datetime2">
              <a:rPr lang="en-US" smtClean="0"/>
              <a:t>Tuesday, November 4, 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89" r:id="rId1"/>
    <p:sldLayoutId id="2147483662" r:id="rId2"/>
    <p:sldLayoutId id="2147483788" r:id="rId3"/>
    <p:sldLayoutId id="2147483792" r:id="rId4"/>
    <p:sldLayoutId id="2147483785" r:id="rId5"/>
    <p:sldLayoutId id="2147483781" r:id="rId6"/>
    <p:sldLayoutId id="2147483783" r:id="rId7"/>
    <p:sldLayoutId id="2147483784" r:id="rId8"/>
    <p:sldLayoutId id="2147483729" r:id="rId9"/>
    <p:sldLayoutId id="2147483810" r:id="rId10"/>
    <p:sldLayoutId id="2147483716" r:id="rId11"/>
    <p:sldLayoutId id="2147483841" r:id="rId12"/>
    <p:sldLayoutId id="2147483679" r:id="rId13"/>
    <p:sldLayoutId id="2147483680" r:id="rId14"/>
    <p:sldLayoutId id="2147483681" r:id="rId15"/>
    <p:sldLayoutId id="2147483778" r:id="rId16"/>
    <p:sldLayoutId id="2147483797" r:id="rId17"/>
    <p:sldLayoutId id="2147483794" r:id="rId18"/>
    <p:sldLayoutId id="2147483690" r:id="rId19"/>
    <p:sldLayoutId id="2147483707" r:id="rId20"/>
    <p:sldLayoutId id="2147483708" r:id="rId21"/>
    <p:sldLayoutId id="2147483848" r:id="rId22"/>
    <p:sldLayoutId id="2147483849" r:id="rId23"/>
    <p:sldLayoutId id="2147483694" r:id="rId24"/>
    <p:sldLayoutId id="2147483803" r:id="rId25"/>
    <p:sldLayoutId id="2147483824" r:id="rId26"/>
    <p:sldLayoutId id="2147483770" r:id="rId27"/>
    <p:sldLayoutId id="2147483801" r:id="rId28"/>
    <p:sldLayoutId id="2147483808" r:id="rId29"/>
    <p:sldLayoutId id="2147483672" r:id="rId30"/>
    <p:sldLayoutId id="2147483804" r:id="rId31"/>
    <p:sldLayoutId id="2147483696" r:id="rId32"/>
    <p:sldLayoutId id="2147483845" r:id="rId33"/>
    <p:sldLayoutId id="2147483846" r:id="rId34"/>
    <p:sldLayoutId id="2147483847" r:id="rId35"/>
    <p:sldLayoutId id="2147483826" r:id="rId36"/>
    <p:sldLayoutId id="2147483775" r:id="rId37"/>
    <p:sldLayoutId id="2147483823" r:id="rId38"/>
    <p:sldLayoutId id="2147483842" r:id="rId39"/>
    <p:sldLayoutId id="2147483843" r:id="rId40"/>
    <p:sldLayoutId id="2147483844" r:id="rId41"/>
    <p:sldLayoutId id="2147483664" r:id="rId42"/>
    <p:sldLayoutId id="2147483665" r:id="rId43"/>
    <p:sldLayoutId id="2147483666" r:id="rId44"/>
    <p:sldLayoutId id="2147483667" r:id="rId45"/>
    <p:sldLayoutId id="2147483668" r:id="rId46"/>
    <p:sldLayoutId id="2147483669" r:id="rId47"/>
    <p:sldLayoutId id="2147483685" r:id="rId48"/>
    <p:sldLayoutId id="2147483730" r:id="rId49"/>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EFFE9-4F1E-4671-3BC7-22069C22D51C}"/>
              </a:ext>
            </a:extLst>
          </p:cNvPr>
          <p:cNvSpPr>
            <a:spLocks noGrp="1"/>
          </p:cNvSpPr>
          <p:nvPr>
            <p:ph type="ctrTitle"/>
          </p:nvPr>
        </p:nvSpPr>
        <p:spPr>
          <a:xfrm>
            <a:off x="3557016" y="987552"/>
            <a:ext cx="7644384" cy="2944368"/>
          </a:xfrm>
        </p:spPr>
        <p:txBody>
          <a:bodyPr anchor="b">
            <a:normAutofit/>
          </a:bodyPr>
          <a:lstStyle/>
          <a:p>
            <a:r>
              <a:rPr lang="en-US"/>
              <a:t>From Zero to Agent Building</a:t>
            </a:r>
          </a:p>
        </p:txBody>
      </p:sp>
      <p:sp>
        <p:nvSpPr>
          <p:cNvPr id="3" name="Subtitle 2">
            <a:extLst>
              <a:ext uri="{FF2B5EF4-FFF2-40B4-BE49-F238E27FC236}">
                <a16:creationId xmlns:a16="http://schemas.microsoft.com/office/drawing/2014/main" id="{5C0C1AD7-62AF-402E-39BB-D8651ED4C44C}"/>
              </a:ext>
            </a:extLst>
          </p:cNvPr>
          <p:cNvSpPr>
            <a:spLocks noGrp="1"/>
          </p:cNvSpPr>
          <p:nvPr>
            <p:ph type="subTitle" idx="1"/>
          </p:nvPr>
        </p:nvSpPr>
        <p:spPr>
          <a:xfrm>
            <a:off x="3538728" y="5294376"/>
            <a:ext cx="7644384" cy="1078992"/>
          </a:xfrm>
        </p:spPr>
        <p:txBody>
          <a:bodyPr anchor="ctr">
            <a:normAutofit/>
          </a:bodyPr>
          <a:lstStyle/>
          <a:p>
            <a:endParaRPr lang="en-US" dirty="0"/>
          </a:p>
        </p:txBody>
      </p:sp>
    </p:spTree>
    <p:extLst>
      <p:ext uri="{BB962C8B-B14F-4D97-AF65-F5344CB8AC3E}">
        <p14:creationId xmlns:p14="http://schemas.microsoft.com/office/powerpoint/2010/main" val="290873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DE78D-EFC3-E941-1B3A-BB51037017D1}"/>
              </a:ext>
            </a:extLst>
          </p:cNvPr>
          <p:cNvSpPr>
            <a:spLocks noGrp="1"/>
          </p:cNvSpPr>
          <p:nvPr>
            <p:ph type="title"/>
          </p:nvPr>
        </p:nvSpPr>
        <p:spPr>
          <a:xfrm>
            <a:off x="731520" y="2596896"/>
            <a:ext cx="8933688" cy="3566160"/>
          </a:xfrm>
        </p:spPr>
        <p:txBody>
          <a:bodyPr anchor="b">
            <a:normAutofit/>
          </a:bodyPr>
          <a:lstStyle/>
          <a:p>
            <a:r>
              <a:rPr lang="en-US"/>
              <a:t>Introduction</a:t>
            </a:r>
          </a:p>
        </p:txBody>
      </p:sp>
    </p:spTree>
    <p:extLst>
      <p:ext uri="{BB962C8B-B14F-4D97-AF65-F5344CB8AC3E}">
        <p14:creationId xmlns:p14="http://schemas.microsoft.com/office/powerpoint/2010/main" val="29643403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0B35B-3681-03E8-CB82-F684D1D19110}"/>
              </a:ext>
            </a:extLst>
          </p:cNvPr>
          <p:cNvSpPr>
            <a:spLocks noGrp="1"/>
          </p:cNvSpPr>
          <p:nvPr>
            <p:ph type="title"/>
          </p:nvPr>
        </p:nvSpPr>
        <p:spPr>
          <a:xfrm>
            <a:off x="731520" y="312572"/>
            <a:ext cx="6858000" cy="923544"/>
          </a:xfrm>
        </p:spPr>
        <p:txBody>
          <a:bodyPr anchor="b">
            <a:normAutofit/>
          </a:bodyPr>
          <a:lstStyle/>
          <a:p>
            <a:r>
              <a:rPr lang="en-US"/>
              <a:t>From Zero to Agent Building</a:t>
            </a:r>
          </a:p>
        </p:txBody>
      </p:sp>
      <p:sp>
        <p:nvSpPr>
          <p:cNvPr id="4" name="Content Placeholder 3">
            <a:extLst>
              <a:ext uri="{FF2B5EF4-FFF2-40B4-BE49-F238E27FC236}">
                <a16:creationId xmlns:a16="http://schemas.microsoft.com/office/drawing/2014/main" id="{0BAB5463-4F52-6DFC-C8BC-9A21C3C44BA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48221" y="1447800"/>
            <a:ext cx="6858000" cy="4608576"/>
          </a:xfrm>
        </p:spPr>
        <p:txBody>
          <a:bodyPr>
            <a:noAutofit/>
          </a:bodyPr>
          <a:lstStyle/>
          <a:p>
            <a:pPr marL="0" indent="0">
              <a:spcBef>
                <a:spcPts val="2500"/>
              </a:spcBef>
              <a:buFont typeface="Arial" panose="020B0604020202020204" pitchFamily="34" charset="0"/>
              <a:buNone/>
            </a:pPr>
            <a:r>
              <a:rPr lang="en-US" sz="1600" b="1" dirty="0"/>
              <a:t>Building Functional AI Agent</a:t>
            </a:r>
          </a:p>
          <a:p>
            <a:pPr marL="0" lvl="1" indent="0">
              <a:buFont typeface="Arial" panose="020B0604020202020204" pitchFamily="34" charset="0"/>
              <a:buNone/>
            </a:pPr>
            <a:r>
              <a:rPr sz="1600" dirty="0"/>
              <a:t>Create an AI agent that reasons, plans, and acts on private data efficiently.</a:t>
            </a:r>
            <a:endParaRPr lang="en-US" sz="1600" dirty="0"/>
          </a:p>
          <a:p>
            <a:pPr marL="0" indent="0">
              <a:spcBef>
                <a:spcPts val="2500"/>
              </a:spcBef>
              <a:buFont typeface="Arial" panose="020B0604020202020204" pitchFamily="34" charset="0"/>
              <a:buNone/>
            </a:pPr>
            <a:r>
              <a:rPr lang="en-US" sz="1600" b="1" dirty="0"/>
              <a:t>Company Brain Construction</a:t>
            </a:r>
          </a:p>
          <a:p>
            <a:pPr marL="0" lvl="1" indent="0">
              <a:buFont typeface="Arial" panose="020B0604020202020204" pitchFamily="34" charset="0"/>
              <a:buNone/>
            </a:pPr>
            <a:r>
              <a:rPr sz="1600" dirty="0"/>
              <a:t>Leverage internal data and tools to build a centralized AI 'company brain'.</a:t>
            </a:r>
            <a:endParaRPr lang="en-US" sz="1600" dirty="0"/>
          </a:p>
          <a:p>
            <a:pPr marL="0" indent="0">
              <a:spcBef>
                <a:spcPts val="2500"/>
              </a:spcBef>
              <a:buFont typeface="Arial" panose="020B0604020202020204" pitchFamily="34" charset="0"/>
              <a:buNone/>
            </a:pPr>
            <a:r>
              <a:rPr lang="en-US" sz="1600" b="1" dirty="0"/>
              <a:t>Live AI Agent Demonstration</a:t>
            </a:r>
          </a:p>
          <a:p>
            <a:pPr marL="0" lvl="1" indent="0">
              <a:buFont typeface="Arial" panose="020B0604020202020204" pitchFamily="34" charset="0"/>
              <a:buNone/>
            </a:pPr>
            <a:r>
              <a:rPr sz="1600" dirty="0"/>
              <a:t>Showcase building an AI agent from scratch interacting with internal company data.</a:t>
            </a:r>
            <a:endParaRPr lang="en-US" sz="1600" dirty="0"/>
          </a:p>
          <a:p>
            <a:pPr marL="0" indent="0">
              <a:spcBef>
                <a:spcPts val="2500"/>
              </a:spcBef>
              <a:buFont typeface="Arial" panose="020B0604020202020204" pitchFamily="34" charset="0"/>
              <a:buNone/>
            </a:pPr>
            <a:r>
              <a:rPr lang="en-US" sz="1600" b="1" dirty="0"/>
              <a:t>Agent vs Traditional LLMs</a:t>
            </a:r>
          </a:p>
          <a:p>
            <a:pPr marL="0" lvl="1" indent="0">
              <a:buFont typeface="Arial" panose="020B0604020202020204" pitchFamily="34" charset="0"/>
              <a:buNone/>
            </a:pPr>
            <a:r>
              <a:rPr sz="1600" dirty="0"/>
              <a:t>Highlight limitations of traditional LLMs and benefits of agent-based systems.</a:t>
            </a:r>
            <a:endParaRPr lang="en-US" sz="1600" dirty="0"/>
          </a:p>
        </p:txBody>
      </p:sp>
      <p:pic>
        <p:nvPicPr>
          <p:cNvPr id="5" name="Content Placeholder 4" descr="AI Artificial intelligence future technology learning innovation internet of things big data">
            <a:extLst>
              <a:ext uri="{FF2B5EF4-FFF2-40B4-BE49-F238E27FC236}">
                <a16:creationId xmlns:a16="http://schemas.microsoft.com/office/drawing/2014/main" id="{ADC84418-5265-41B5-A978-B187E183F023}"/>
              </a:ext>
            </a:extLst>
          </p:cNvPr>
          <p:cNvPicPr>
            <a:picLocks noGrp="1" noChangeAspect="1"/>
          </p:cNvPicPr>
          <p:nvPr>
            <p:ph type="pic" sz="quarter" idx="15"/>
          </p:nvPr>
        </p:nvPicPr>
        <p:blipFill>
          <a:blip r:embed="rId3"/>
          <a:srcRect l="32476" r="27944"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18057481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75AE5-8B75-46F7-A461-AF8867377356}"/>
              </a:ext>
            </a:extLst>
          </p:cNvPr>
          <p:cNvSpPr>
            <a:spLocks noGrp="1"/>
          </p:cNvSpPr>
          <p:nvPr>
            <p:ph type="title"/>
          </p:nvPr>
        </p:nvSpPr>
        <p:spPr>
          <a:xfrm>
            <a:off x="3657600" y="2807208"/>
            <a:ext cx="7772400" cy="3346704"/>
          </a:xfrm>
        </p:spPr>
        <p:txBody>
          <a:bodyPr anchor="t">
            <a:normAutofit/>
          </a:bodyPr>
          <a:lstStyle/>
          <a:p>
            <a:r>
              <a:rPr lang="en-US"/>
              <a:t>Understanding the Limitations of LLMs</a:t>
            </a:r>
          </a:p>
        </p:txBody>
      </p:sp>
    </p:spTree>
    <p:extLst>
      <p:ext uri="{BB962C8B-B14F-4D97-AF65-F5344CB8AC3E}">
        <p14:creationId xmlns:p14="http://schemas.microsoft.com/office/powerpoint/2010/main" val="3072469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2E900-E505-476D-E6C8-E3C49E4C2C34}"/>
              </a:ext>
            </a:extLst>
          </p:cNvPr>
          <p:cNvSpPr>
            <a:spLocks noGrp="1"/>
          </p:cNvSpPr>
          <p:nvPr>
            <p:ph type="title"/>
          </p:nvPr>
        </p:nvSpPr>
        <p:spPr>
          <a:xfrm>
            <a:off x="731520" y="312572"/>
            <a:ext cx="6858000" cy="923544"/>
          </a:xfrm>
        </p:spPr>
        <p:txBody>
          <a:bodyPr anchor="b">
            <a:normAutofit/>
          </a:bodyPr>
          <a:lstStyle/>
          <a:p>
            <a:r>
              <a:rPr lang="en-US"/>
              <a:t>The "Brain in a Jar" Problem</a:t>
            </a:r>
          </a:p>
        </p:txBody>
      </p:sp>
      <p:sp>
        <p:nvSpPr>
          <p:cNvPr id="4" name="Content Placeholder 3">
            <a:extLst>
              <a:ext uri="{FF2B5EF4-FFF2-40B4-BE49-F238E27FC236}">
                <a16:creationId xmlns:a16="http://schemas.microsoft.com/office/drawing/2014/main" id="{54D29FE8-20CC-9DD5-73F4-B0483C0A5AD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sz="1600" b="1" dirty="0"/>
              <a:t>LLM Capabilities</a:t>
            </a:r>
          </a:p>
          <a:p>
            <a:pPr marL="0" lvl="1" indent="0">
              <a:buFont typeface="Arial" panose="020B0604020202020204" pitchFamily="34" charset="0"/>
              <a:buNone/>
            </a:pPr>
            <a:r>
              <a:rPr sz="1600" dirty="0"/>
              <a:t>LLMs excel in general knowledge and generating human-like text responses.</a:t>
            </a:r>
            <a:endParaRPr lang="en-US" sz="1600" dirty="0"/>
          </a:p>
          <a:p>
            <a:pPr marL="0" indent="0">
              <a:spcBef>
                <a:spcPts val="2500"/>
              </a:spcBef>
              <a:buFont typeface="Arial" panose="020B0604020202020204" pitchFamily="34" charset="0"/>
              <a:buNone/>
            </a:pPr>
            <a:r>
              <a:rPr lang="en-US" sz="1600" b="1" dirty="0"/>
              <a:t>Passive System Nature</a:t>
            </a:r>
          </a:p>
          <a:p>
            <a:pPr marL="0" lvl="1" indent="0">
              <a:buFont typeface="Arial" panose="020B0604020202020204" pitchFamily="34" charset="0"/>
              <a:buNone/>
            </a:pPr>
            <a:r>
              <a:rPr sz="1600" dirty="0"/>
              <a:t>LLMs cannot perform actions or interact with external environments actively.</a:t>
            </a:r>
            <a:endParaRPr lang="en-US" sz="1600" dirty="0"/>
          </a:p>
          <a:p>
            <a:pPr marL="0" indent="0">
              <a:spcBef>
                <a:spcPts val="2500"/>
              </a:spcBef>
              <a:buFont typeface="Arial" panose="020B0604020202020204" pitchFamily="34" charset="0"/>
              <a:buNone/>
            </a:pPr>
            <a:r>
              <a:rPr lang="en-US" sz="1600" b="1" dirty="0"/>
              <a:t>Lack of Real-Time Data</a:t>
            </a:r>
          </a:p>
          <a:p>
            <a:pPr marL="0" lvl="1" indent="0">
              <a:buFont typeface="Arial" panose="020B0604020202020204" pitchFamily="34" charset="0"/>
              <a:buNone/>
            </a:pPr>
            <a:r>
              <a:rPr sz="1600" dirty="0"/>
              <a:t>LLMs cannot access real-time or proprietary data for specific queries.</a:t>
            </a:r>
            <a:endParaRPr lang="en-US" sz="1600" dirty="0"/>
          </a:p>
          <a:p>
            <a:pPr marL="0" indent="0">
              <a:spcBef>
                <a:spcPts val="2500"/>
              </a:spcBef>
              <a:buFont typeface="Arial" panose="020B0604020202020204" pitchFamily="34" charset="0"/>
              <a:buNone/>
            </a:pPr>
            <a:r>
              <a:rPr lang="en-US" sz="1600" b="1" dirty="0"/>
              <a:t>Enterprise Application Challenge</a:t>
            </a:r>
          </a:p>
          <a:p>
            <a:pPr marL="0" lvl="1" indent="0">
              <a:buFont typeface="Arial" panose="020B0604020202020204" pitchFamily="34" charset="0"/>
              <a:buNone/>
            </a:pPr>
            <a:r>
              <a:rPr sz="1600" dirty="0"/>
              <a:t>This limitation reduces LLMs' usefulness in enterprise contexts needing actionable intelligence.</a:t>
            </a:r>
            <a:endParaRPr lang="en-US" sz="1600" dirty="0"/>
          </a:p>
        </p:txBody>
      </p:sp>
      <p:pic>
        <p:nvPicPr>
          <p:cNvPr id="5" name="Content Placeholder 4" descr="Brain in Crystal Cakestand">
            <a:extLst>
              <a:ext uri="{FF2B5EF4-FFF2-40B4-BE49-F238E27FC236}">
                <a16:creationId xmlns:a16="http://schemas.microsoft.com/office/drawing/2014/main" id="{895A875C-719F-44B5-A2D4-EDA4B7C82160}"/>
              </a:ext>
            </a:extLst>
          </p:cNvPr>
          <p:cNvPicPr>
            <a:picLocks noGrp="1" noChangeAspect="1"/>
          </p:cNvPicPr>
          <p:nvPr>
            <p:ph type="pic" sz="quarter" idx="15"/>
          </p:nvPr>
        </p:nvPicPr>
        <p:blipFill>
          <a:blip r:embed="rId3"/>
          <a:srcRect l="30626" r="29794"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8009233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ABC2-CEB0-0CCB-5CF3-AAC7010C9EFB}"/>
              </a:ext>
            </a:extLst>
          </p:cNvPr>
          <p:cNvSpPr>
            <a:spLocks noGrp="1"/>
          </p:cNvSpPr>
          <p:nvPr>
            <p:ph type="title"/>
          </p:nvPr>
        </p:nvSpPr>
        <p:spPr>
          <a:xfrm>
            <a:off x="731520" y="2596896"/>
            <a:ext cx="8933688" cy="3566160"/>
          </a:xfrm>
        </p:spPr>
        <p:txBody>
          <a:bodyPr anchor="b">
            <a:normAutofit/>
          </a:bodyPr>
          <a:lstStyle/>
          <a:p>
            <a:r>
              <a:rPr lang="en-US"/>
              <a:t>Introducing AI Agents</a:t>
            </a:r>
          </a:p>
        </p:txBody>
      </p:sp>
    </p:spTree>
    <p:extLst>
      <p:ext uri="{BB962C8B-B14F-4D97-AF65-F5344CB8AC3E}">
        <p14:creationId xmlns:p14="http://schemas.microsoft.com/office/powerpoint/2010/main" val="41509902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934F3-DB27-752E-37D3-1030172A298B}"/>
              </a:ext>
            </a:extLst>
          </p:cNvPr>
          <p:cNvSpPr>
            <a:spLocks noGrp="1"/>
          </p:cNvSpPr>
          <p:nvPr>
            <p:ph type="title"/>
          </p:nvPr>
        </p:nvSpPr>
        <p:spPr>
          <a:xfrm>
            <a:off x="731520" y="312572"/>
            <a:ext cx="6858000" cy="923544"/>
          </a:xfrm>
        </p:spPr>
        <p:txBody>
          <a:bodyPr anchor="b">
            <a:normAutofit/>
          </a:bodyPr>
          <a:lstStyle/>
          <a:p>
            <a:r>
              <a:rPr lang="en-US"/>
              <a:t>The Solution: AI Agents</a:t>
            </a:r>
          </a:p>
        </p:txBody>
      </p:sp>
      <p:sp>
        <p:nvSpPr>
          <p:cNvPr id="4" name="Content Placeholder 3">
            <a:extLst>
              <a:ext uri="{FF2B5EF4-FFF2-40B4-BE49-F238E27FC236}">
                <a16:creationId xmlns:a16="http://schemas.microsoft.com/office/drawing/2014/main" id="{CEBA760A-22F7-E658-BAAC-87E94353571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Autofit/>
          </a:bodyPr>
          <a:lstStyle/>
          <a:p>
            <a:pPr marL="0" indent="0">
              <a:spcBef>
                <a:spcPts val="2500"/>
              </a:spcBef>
              <a:buFont typeface="Arial" panose="020B0604020202020204" pitchFamily="34" charset="0"/>
              <a:buNone/>
            </a:pPr>
            <a:r>
              <a:rPr lang="en-US" sz="1600" b="1" dirty="0"/>
              <a:t>AI Agent Evolution</a:t>
            </a:r>
          </a:p>
          <a:p>
            <a:pPr marL="0" lvl="1" indent="0">
              <a:buFont typeface="Arial" panose="020B0604020202020204" pitchFamily="34" charset="0"/>
              <a:buNone/>
            </a:pPr>
            <a:r>
              <a:rPr sz="1600" dirty="0"/>
              <a:t>AI agents enhance LLMs by adding reasoning, planning, and action capabilities.</a:t>
            </a:r>
            <a:endParaRPr lang="en-US" sz="1600" dirty="0"/>
          </a:p>
          <a:p>
            <a:pPr marL="0" indent="0">
              <a:spcBef>
                <a:spcPts val="2500"/>
              </a:spcBef>
              <a:buFont typeface="Arial" panose="020B0604020202020204" pitchFamily="34" charset="0"/>
              <a:buNone/>
            </a:pPr>
            <a:r>
              <a:rPr lang="en-US" sz="1600" b="1" dirty="0" err="1"/>
              <a:t>ReAct</a:t>
            </a:r>
            <a:r>
              <a:rPr lang="en-US" sz="1600" b="1" dirty="0"/>
              <a:t> Loop Explained</a:t>
            </a:r>
          </a:p>
          <a:p>
            <a:pPr marL="0" lvl="1" indent="0">
              <a:buFont typeface="Arial" panose="020B0604020202020204" pitchFamily="34" charset="0"/>
              <a:buNone/>
            </a:pPr>
            <a:r>
              <a:rPr sz="1600" dirty="0"/>
              <a:t>Agents follow the </a:t>
            </a:r>
            <a:r>
              <a:rPr sz="1600" dirty="0" err="1"/>
              <a:t>ReAct</a:t>
            </a:r>
            <a:r>
              <a:rPr sz="1600" dirty="0"/>
              <a:t> loop: Reason user intent, Act with tools, then Observe outcomes.</a:t>
            </a:r>
            <a:endParaRPr lang="en-US" sz="1600" dirty="0"/>
          </a:p>
          <a:p>
            <a:pPr marL="0" indent="0">
              <a:spcBef>
                <a:spcPts val="2500"/>
              </a:spcBef>
              <a:buFont typeface="Arial" panose="020B0604020202020204" pitchFamily="34" charset="0"/>
              <a:buNone/>
            </a:pPr>
            <a:r>
              <a:rPr lang="en-US" sz="1600" b="1" dirty="0"/>
              <a:t>Dynamic Problem Solvers</a:t>
            </a:r>
          </a:p>
          <a:p>
            <a:pPr marL="0" lvl="1" indent="0">
              <a:buFont typeface="Arial" panose="020B0604020202020204" pitchFamily="34" charset="0"/>
              <a:buNone/>
            </a:pPr>
            <a:r>
              <a:rPr sz="1600" dirty="0"/>
              <a:t>Agents use embedded tools and external system interaction to solve complex problems.</a:t>
            </a:r>
            <a:endParaRPr lang="en-US" sz="1600" dirty="0"/>
          </a:p>
          <a:p>
            <a:pPr marL="0" indent="0">
              <a:spcBef>
                <a:spcPts val="2500"/>
              </a:spcBef>
              <a:buFont typeface="Arial" panose="020B0604020202020204" pitchFamily="34" charset="0"/>
              <a:buNone/>
            </a:pPr>
            <a:r>
              <a:rPr lang="en-US" sz="1600" b="1" dirty="0"/>
              <a:t>Enterprise Applications</a:t>
            </a:r>
          </a:p>
          <a:p>
            <a:pPr marL="0" lvl="1" indent="0">
              <a:buFont typeface="Arial" panose="020B0604020202020204" pitchFamily="34" charset="0"/>
              <a:buNone/>
            </a:pPr>
            <a:r>
              <a:rPr sz="1600" dirty="0"/>
              <a:t>Agents perform calculations, data retrieval, and decisions for complex enterprise tasks.</a:t>
            </a:r>
            <a:endParaRPr lang="en-US" sz="1600" dirty="0"/>
          </a:p>
        </p:txBody>
      </p:sp>
      <p:pic>
        <p:nvPicPr>
          <p:cNvPr id="5" name="Content Placeholder 4" descr="AI Artificial intelligence innovation internet computer technology">
            <a:extLst>
              <a:ext uri="{FF2B5EF4-FFF2-40B4-BE49-F238E27FC236}">
                <a16:creationId xmlns:a16="http://schemas.microsoft.com/office/drawing/2014/main" id="{5D855AFD-6E7B-4D26-8F22-97136713E9F4}"/>
              </a:ext>
            </a:extLst>
          </p:cNvPr>
          <p:cNvPicPr>
            <a:picLocks noGrp="1" noChangeAspect="1"/>
          </p:cNvPicPr>
          <p:nvPr>
            <p:ph type="pic" sz="quarter" idx="15"/>
          </p:nvPr>
        </p:nvPicPr>
        <p:blipFill>
          <a:blip r:embed="rId3"/>
          <a:srcRect l="30709" r="29711"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36558720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158F0-9D4C-7808-C0AB-EC2D01E5A45A}"/>
              </a:ext>
            </a:extLst>
          </p:cNvPr>
          <p:cNvSpPr>
            <a:spLocks noGrp="1"/>
          </p:cNvSpPr>
          <p:nvPr>
            <p:ph type="title"/>
          </p:nvPr>
        </p:nvSpPr>
        <p:spPr>
          <a:xfrm>
            <a:off x="3657600" y="2807208"/>
            <a:ext cx="7772400" cy="3346704"/>
          </a:xfrm>
        </p:spPr>
        <p:txBody>
          <a:bodyPr anchor="t">
            <a:normAutofit/>
          </a:bodyPr>
          <a:lstStyle/>
          <a:p>
            <a:r>
              <a:rPr lang="en-US"/>
              <a:t>Building Agents with strands SDK</a:t>
            </a:r>
          </a:p>
        </p:txBody>
      </p:sp>
    </p:spTree>
    <p:extLst>
      <p:ext uri="{BB962C8B-B14F-4D97-AF65-F5344CB8AC3E}">
        <p14:creationId xmlns:p14="http://schemas.microsoft.com/office/powerpoint/2010/main" val="8188380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A6B44-33D1-C81F-C324-1645765E74A9}"/>
              </a:ext>
            </a:extLst>
          </p:cNvPr>
          <p:cNvSpPr>
            <a:spLocks noGrp="1"/>
          </p:cNvSpPr>
          <p:nvPr>
            <p:ph type="title"/>
          </p:nvPr>
        </p:nvSpPr>
        <p:spPr>
          <a:xfrm>
            <a:off x="731520" y="312572"/>
            <a:ext cx="6858000" cy="923544"/>
          </a:xfrm>
        </p:spPr>
        <p:txBody>
          <a:bodyPr anchor="b">
            <a:normAutofit/>
          </a:bodyPr>
          <a:lstStyle/>
          <a:p>
            <a:r>
              <a:rPr lang="en-US"/>
              <a:t>How We Build This: The strands SDK</a:t>
            </a:r>
          </a:p>
        </p:txBody>
      </p:sp>
      <p:sp>
        <p:nvSpPr>
          <p:cNvPr id="4" name="Content Placeholder 3">
            <a:extLst>
              <a:ext uri="{FF2B5EF4-FFF2-40B4-BE49-F238E27FC236}">
                <a16:creationId xmlns:a16="http://schemas.microsoft.com/office/drawing/2014/main" id="{17AB07BB-D6FB-92AB-92EF-05BE849FCD9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dirty="0"/>
              <a:t>Complexity of Manual AI Agent Construction</a:t>
            </a:r>
          </a:p>
          <a:p>
            <a:pPr marL="0" lvl="1" indent="0">
              <a:buFont typeface="Arial" panose="020B0604020202020204" pitchFamily="34" charset="0"/>
              <a:buNone/>
            </a:pPr>
            <a:r>
              <a:rPr dirty="0"/>
              <a:t>Building AI agents manually requires intricate prompting and error handling, making it time-consuming.</a:t>
            </a:r>
            <a:endParaRPr lang="en-US" dirty="0"/>
          </a:p>
          <a:p>
            <a:pPr marL="0" indent="0">
              <a:spcBef>
                <a:spcPts val="2500"/>
              </a:spcBef>
              <a:buFont typeface="Arial" panose="020B0604020202020204" pitchFamily="34" charset="0"/>
              <a:buNone/>
            </a:pPr>
            <a:r>
              <a:rPr lang="en-US" b="1" dirty="0"/>
              <a:t>Strands SDK Model-Agnostic Framework</a:t>
            </a:r>
          </a:p>
          <a:p>
            <a:pPr marL="0" lvl="1" indent="0">
              <a:buFont typeface="Arial" panose="020B0604020202020204" pitchFamily="34" charset="0"/>
              <a:buNone/>
            </a:pPr>
            <a:r>
              <a:rPr dirty="0"/>
              <a:t>The strands SDK supports Gemini, OpenAI, and Anthropic models with a unified interface.</a:t>
            </a:r>
            <a:endParaRPr lang="en-US" dirty="0"/>
          </a:p>
          <a:p>
            <a:pPr marL="0" indent="0">
              <a:spcBef>
                <a:spcPts val="2500"/>
              </a:spcBef>
              <a:buFont typeface="Arial" panose="020B0604020202020204" pitchFamily="34" charset="0"/>
              <a:buNone/>
            </a:pPr>
            <a:r>
              <a:rPr lang="en-US" b="1" dirty="0"/>
              <a:t>Tool Creation Using Python Functions</a:t>
            </a:r>
          </a:p>
          <a:p>
            <a:pPr marL="0" lvl="1" indent="0">
              <a:buFont typeface="Arial" panose="020B0604020202020204" pitchFamily="34" charset="0"/>
              <a:buNone/>
            </a:pPr>
            <a:r>
              <a:rPr dirty="0"/>
              <a:t>Developers write standard Python functions annotated with @tool to create reusable tools.</a:t>
            </a:r>
            <a:endParaRPr lang="en-US" dirty="0"/>
          </a:p>
          <a:p>
            <a:pPr marL="0" indent="0">
              <a:spcBef>
                <a:spcPts val="2500"/>
              </a:spcBef>
              <a:buFont typeface="Arial" panose="020B0604020202020204" pitchFamily="34" charset="0"/>
              <a:buNone/>
            </a:pPr>
            <a:r>
              <a:rPr lang="en-US" b="1" dirty="0"/>
              <a:t>Agent Orchestration by </a:t>
            </a:r>
            <a:r>
              <a:rPr lang="en-US" b="1" dirty="0" err="1"/>
              <a:t>strands.Agent</a:t>
            </a:r>
            <a:endParaRPr lang="en-US" b="1" dirty="0"/>
          </a:p>
          <a:p>
            <a:pPr marL="0" lvl="1" indent="0">
              <a:buFont typeface="Arial" panose="020B0604020202020204" pitchFamily="34" charset="0"/>
              <a:buNone/>
            </a:pPr>
            <a:r>
              <a:rPr dirty="0"/>
              <a:t>The </a:t>
            </a:r>
            <a:r>
              <a:rPr dirty="0" err="1"/>
              <a:t>strands.Agent</a:t>
            </a:r>
            <a:r>
              <a:rPr dirty="0"/>
              <a:t> manages the </a:t>
            </a:r>
            <a:r>
              <a:rPr dirty="0" err="1"/>
              <a:t>ReAct</a:t>
            </a:r>
            <a:r>
              <a:rPr dirty="0"/>
              <a:t> loop and tool invocation, simplifying orchestration.</a:t>
            </a:r>
            <a:endParaRPr lang="en-US" dirty="0"/>
          </a:p>
        </p:txBody>
      </p:sp>
      <p:pic>
        <p:nvPicPr>
          <p:cNvPr id="5" name="Content Placeholder 4" descr="Programming code with background of Shanghai Lujiazui Financial District cityscape.">
            <a:extLst>
              <a:ext uri="{FF2B5EF4-FFF2-40B4-BE49-F238E27FC236}">
                <a16:creationId xmlns:a16="http://schemas.microsoft.com/office/drawing/2014/main" id="{3D9AE57D-5131-40AE-BFEC-48CD40AFF98C}"/>
              </a:ext>
            </a:extLst>
          </p:cNvPr>
          <p:cNvPicPr>
            <a:picLocks noGrp="1" noChangeAspect="1"/>
          </p:cNvPicPr>
          <p:nvPr>
            <p:ph type="pic" sz="quarter" idx="15"/>
          </p:nvPr>
        </p:nvPicPr>
        <p:blipFill>
          <a:blip r:embed="rId3"/>
          <a:srcRect l="24980" r="36181" b="2"/>
          <a:stretch>
            <a:fillRect/>
          </a:stretch>
        </p:blipFill>
        <p:spPr>
          <a:xfrm>
            <a:off x="8491126" y="603504"/>
            <a:ext cx="3085177" cy="5202936"/>
          </a:xfrm>
          <a:prstGeom prst="rect">
            <a:avLst/>
          </a:prstGeom>
          <a:noFill/>
        </p:spPr>
      </p:pic>
    </p:spTree>
    <p:extLst>
      <p:ext uri="{BB962C8B-B14F-4D97-AF65-F5344CB8AC3E}">
        <p14:creationId xmlns:p14="http://schemas.microsoft.com/office/powerpoint/2010/main" val="41974559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CB044-0BAE-F733-E073-F3FFE4B7B8FA}"/>
              </a:ext>
            </a:extLst>
          </p:cNvPr>
          <p:cNvSpPr>
            <a:spLocks noGrp="1"/>
          </p:cNvSpPr>
          <p:nvPr>
            <p:ph type="title"/>
          </p:nvPr>
        </p:nvSpPr>
        <p:spPr>
          <a:xfrm>
            <a:off x="731520" y="2596896"/>
            <a:ext cx="8933688" cy="3566160"/>
          </a:xfrm>
        </p:spPr>
        <p:txBody>
          <a:bodyPr anchor="b">
            <a:normAutofit/>
          </a:bodyPr>
          <a:lstStyle/>
          <a:p>
            <a:r>
              <a:rPr lang="en-US"/>
              <a:t>Demonstrating a Multi-Tool Agent</a:t>
            </a:r>
          </a:p>
        </p:txBody>
      </p:sp>
    </p:spTree>
    <p:extLst>
      <p:ext uri="{BB962C8B-B14F-4D97-AF65-F5344CB8AC3E}">
        <p14:creationId xmlns:p14="http://schemas.microsoft.com/office/powerpoint/2010/main" val="29502660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FDD1E-8D52-5BCF-FAE3-1743F2ECCB43}"/>
              </a:ext>
            </a:extLst>
          </p:cNvPr>
          <p:cNvSpPr>
            <a:spLocks noGrp="1"/>
          </p:cNvSpPr>
          <p:nvPr>
            <p:ph type="title"/>
          </p:nvPr>
        </p:nvSpPr>
        <p:spPr>
          <a:xfrm>
            <a:off x="8311896" y="832104"/>
            <a:ext cx="3273552" cy="1947672"/>
          </a:xfrm>
        </p:spPr>
        <p:txBody>
          <a:bodyPr anchor="b">
            <a:normAutofit/>
          </a:bodyPr>
          <a:lstStyle/>
          <a:p>
            <a:r>
              <a:rPr lang="en-US"/>
              <a:t>Today's Use Case: A Multi-Tool "Company Brain"</a:t>
            </a:r>
          </a:p>
        </p:txBody>
      </p:sp>
      <p:pic>
        <p:nvPicPr>
          <p:cNvPr id="5" name="Content Placeholder 4" descr="Close up of a phone on a city street with a streaming data around it.">
            <a:extLst>
              <a:ext uri="{FF2B5EF4-FFF2-40B4-BE49-F238E27FC236}">
                <a16:creationId xmlns:a16="http://schemas.microsoft.com/office/drawing/2014/main" id="{120FBF3C-C9C9-4E6D-B575-3E3090448614}"/>
              </a:ext>
            </a:extLst>
          </p:cNvPr>
          <p:cNvPicPr>
            <a:picLocks noGrp="1" noChangeAspect="1"/>
          </p:cNvPicPr>
          <p:nvPr>
            <p:ph type="pic" sz="quarter" idx="18"/>
          </p:nvPr>
        </p:nvPicPr>
        <p:blipFill>
          <a:blip r:embed="rId3"/>
          <a:srcRect l="11707" r="20000" b="1"/>
          <a:stretch>
            <a:fillRect/>
          </a:stretch>
        </p:blipFill>
        <p:spPr>
          <a:xfrm>
            <a:off x="20" y="-1"/>
            <a:ext cx="7783979" cy="6411311"/>
          </a:xfrm>
          <a:prstGeom prst="rect">
            <a:avLst/>
          </a:prstGeom>
          <a:noFill/>
        </p:spPr>
      </p:pic>
      <p:sp>
        <p:nvSpPr>
          <p:cNvPr id="4" name="Content Placeholder 3">
            <a:extLst>
              <a:ext uri="{FF2B5EF4-FFF2-40B4-BE49-F238E27FC236}">
                <a16:creationId xmlns:a16="http://schemas.microsoft.com/office/drawing/2014/main" id="{D89F688A-3A89-980F-CE69-E8C422BA01A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2852928"/>
            <a:ext cx="3273552" cy="2953512"/>
          </a:xfrm>
        </p:spPr>
        <p:txBody>
          <a:bodyPr>
            <a:normAutofit/>
          </a:bodyPr>
          <a:lstStyle/>
          <a:p>
            <a:pPr marL="0" indent="0">
              <a:lnSpc>
                <a:spcPct val="110000"/>
              </a:lnSpc>
              <a:spcBef>
                <a:spcPts val="2500"/>
              </a:spcBef>
              <a:buFont typeface="Arial" panose="020B0604020202020204" pitchFamily="34" charset="0"/>
              <a:buNone/>
            </a:pPr>
            <a:r>
              <a:rPr lang="en-US" sz="1100" b="1"/>
              <a:t>Multi-Tool Agent Setup</a:t>
            </a:r>
          </a:p>
          <a:p>
            <a:pPr marL="0" lvl="1" indent="0">
              <a:lnSpc>
                <a:spcPct val="110000"/>
              </a:lnSpc>
              <a:buFont typeface="Arial" panose="020B0604020202020204" pitchFamily="34" charset="0"/>
              <a:buNone/>
            </a:pPr>
            <a:r>
              <a:rPr lang="en-US" sz="1100"/>
              <a:t>Agent uses three tools: current_time, calculator, and search_knowledge_base for diverse tasks.</a:t>
            </a:r>
          </a:p>
          <a:p>
            <a:pPr marL="0" indent="0">
              <a:lnSpc>
                <a:spcPct val="110000"/>
              </a:lnSpc>
              <a:spcBef>
                <a:spcPts val="2500"/>
              </a:spcBef>
              <a:buFont typeface="Arial" panose="020B0604020202020204" pitchFamily="34" charset="0"/>
              <a:buNone/>
            </a:pPr>
            <a:r>
              <a:rPr lang="en-US" sz="1100" b="1"/>
              <a:t>Intelligent Tool Selection</a:t>
            </a:r>
          </a:p>
          <a:p>
            <a:pPr marL="0" lvl="1" indent="0">
              <a:lnSpc>
                <a:spcPct val="110000"/>
              </a:lnSpc>
              <a:buFont typeface="Arial" panose="020B0604020202020204" pitchFamily="34" charset="0"/>
              <a:buNone/>
            </a:pPr>
            <a:r>
              <a:rPr lang="en-US" sz="1100"/>
              <a:t>Agent selects the right tool based on user queries demonstrating contextual understanding.</a:t>
            </a:r>
          </a:p>
          <a:p>
            <a:pPr marL="0" indent="0">
              <a:lnSpc>
                <a:spcPct val="110000"/>
              </a:lnSpc>
              <a:spcBef>
                <a:spcPts val="2500"/>
              </a:spcBef>
              <a:buFont typeface="Arial" panose="020B0604020202020204" pitchFamily="34" charset="0"/>
              <a:buNone/>
            </a:pPr>
            <a:r>
              <a:rPr lang="en-US" sz="1100" b="1"/>
              <a:t>Enterprise Application</a:t>
            </a:r>
          </a:p>
          <a:p>
            <a:pPr marL="0" lvl="1" indent="0">
              <a:lnSpc>
                <a:spcPct val="110000"/>
              </a:lnSpc>
              <a:buFont typeface="Arial" panose="020B0604020202020204" pitchFamily="34" charset="0"/>
              <a:buNone/>
            </a:pPr>
            <a:r>
              <a:rPr lang="en-US" sz="1100"/>
              <a:t>Use case supports building internal helpdesks and automation using private company data.</a:t>
            </a:r>
          </a:p>
        </p:txBody>
      </p:sp>
    </p:spTree>
    <p:extLst>
      <p:ext uri="{BB962C8B-B14F-4D97-AF65-F5344CB8AC3E}">
        <p14:creationId xmlns:p14="http://schemas.microsoft.com/office/powerpoint/2010/main" val="18436214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04223-3DDC-0535-8DC5-872F0CEC6F65}"/>
              </a:ext>
            </a:extLst>
          </p:cNvPr>
          <p:cNvSpPr>
            <a:spLocks noGrp="1"/>
          </p:cNvSpPr>
          <p:nvPr>
            <p:ph type="title"/>
          </p:nvPr>
        </p:nvSpPr>
        <p:spPr>
          <a:xfrm>
            <a:off x="731520" y="2596896"/>
            <a:ext cx="8933688" cy="3566160"/>
          </a:xfrm>
        </p:spPr>
        <p:txBody>
          <a:bodyPr anchor="b">
            <a:normAutofit/>
          </a:bodyPr>
          <a:lstStyle/>
          <a:p>
            <a:r>
              <a:rPr lang="en-US"/>
              <a:t>Live Demonstration</a:t>
            </a:r>
          </a:p>
        </p:txBody>
      </p:sp>
    </p:spTree>
    <p:extLst>
      <p:ext uri="{BB962C8B-B14F-4D97-AF65-F5344CB8AC3E}">
        <p14:creationId xmlns:p14="http://schemas.microsoft.com/office/powerpoint/2010/main" val="2439555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863C9-4A70-D2D5-0AE9-13490C233818}"/>
              </a:ext>
            </a:extLst>
          </p:cNvPr>
          <p:cNvSpPr>
            <a:spLocks noGrp="1"/>
          </p:cNvSpPr>
          <p:nvPr>
            <p:ph type="title"/>
          </p:nvPr>
        </p:nvSpPr>
        <p:spPr>
          <a:xfrm>
            <a:off x="731520" y="3886200"/>
            <a:ext cx="3649468" cy="2048256"/>
          </a:xfrm>
        </p:spPr>
        <p:txBody>
          <a:bodyPr anchor="t">
            <a:normAutofit/>
          </a:bodyPr>
          <a:lstStyle/>
          <a:p>
            <a:r>
              <a:rPr lang="en-US"/>
              <a:t>🚀 LIVE DEMO 🚀</a:t>
            </a:r>
          </a:p>
        </p:txBody>
      </p:sp>
      <p:pic>
        <p:nvPicPr>
          <p:cNvPr id="5" name="Content Placeholder 4" descr="Young Asian woman software developers mentor leader manager talking to executive team analyzing source code in office at night. Programmer development concept.">
            <a:extLst>
              <a:ext uri="{FF2B5EF4-FFF2-40B4-BE49-F238E27FC236}">
                <a16:creationId xmlns:a16="http://schemas.microsoft.com/office/drawing/2014/main" id="{24B6B83C-270D-4D3A-A7FF-BA5C7EC421B1}"/>
              </a:ext>
            </a:extLst>
          </p:cNvPr>
          <p:cNvPicPr>
            <a:picLocks noGrp="1" noChangeAspect="1"/>
          </p:cNvPicPr>
          <p:nvPr>
            <p:ph type="pic" sz="quarter" idx="15"/>
          </p:nvPr>
        </p:nvPicPr>
        <p:blipFill>
          <a:blip r:embed="rId3"/>
          <a:stretch/>
        </p:blipFill>
        <p:spPr>
          <a:xfrm>
            <a:off x="731518" y="834104"/>
            <a:ext cx="3520440" cy="1980247"/>
          </a:xfrm>
          <a:prstGeom prst="rect">
            <a:avLst/>
          </a:prstGeom>
          <a:noFill/>
        </p:spPr>
      </p:pic>
      <p:sp>
        <p:nvSpPr>
          <p:cNvPr id="4" name="Content Placeholder 3">
            <a:extLst>
              <a:ext uri="{FF2B5EF4-FFF2-40B4-BE49-F238E27FC236}">
                <a16:creationId xmlns:a16="http://schemas.microsoft.com/office/drawing/2014/main" id="{5234D8BA-B1CD-EF01-8CBC-FAA10410CFD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8072" y="704088"/>
            <a:ext cx="6428232" cy="5230368"/>
          </a:xfrm>
        </p:spPr>
        <p:txBody>
          <a:bodyPr>
            <a:normAutofit/>
          </a:bodyPr>
          <a:lstStyle/>
          <a:p>
            <a:pPr marL="0" indent="0">
              <a:spcBef>
                <a:spcPts val="2500"/>
              </a:spcBef>
              <a:buFont typeface="Arial" panose="020B0604020202020204" pitchFamily="34" charset="0"/>
              <a:buNone/>
            </a:pPr>
            <a:r>
              <a:rPr lang="en-US" b="1" dirty="0"/>
              <a:t>Knowledge Base Introduction</a:t>
            </a:r>
          </a:p>
          <a:p>
            <a:pPr marL="0" lvl="1" indent="0">
              <a:buFont typeface="Arial" panose="020B0604020202020204" pitchFamily="34" charset="0"/>
              <a:buNone/>
            </a:pPr>
            <a:r>
              <a:rPr dirty="0"/>
              <a:t>The knowledge_base.txt file serves as the agent's internal data source for reference.</a:t>
            </a:r>
            <a:endParaRPr lang="en-US" dirty="0"/>
          </a:p>
          <a:p>
            <a:pPr marL="0" indent="0">
              <a:spcBef>
                <a:spcPts val="2500"/>
              </a:spcBef>
              <a:buFont typeface="Arial" panose="020B0604020202020204" pitchFamily="34" charset="0"/>
              <a:buNone/>
            </a:pPr>
            <a:r>
              <a:rPr lang="en-US" b="1" dirty="0"/>
              <a:t>Agent Configuration Script</a:t>
            </a:r>
          </a:p>
          <a:p>
            <a:pPr marL="0" lvl="1" indent="0">
              <a:buFont typeface="Arial" panose="020B0604020202020204" pitchFamily="34" charset="0"/>
              <a:buNone/>
            </a:pPr>
            <a:r>
              <a:rPr dirty="0"/>
              <a:t>The demo.py script configures the agent including integration of built-in and custom tools.</a:t>
            </a:r>
            <a:endParaRPr lang="en-US" dirty="0"/>
          </a:p>
          <a:p>
            <a:pPr marL="0" indent="0">
              <a:spcBef>
                <a:spcPts val="2500"/>
              </a:spcBef>
              <a:buFont typeface="Arial" panose="020B0604020202020204" pitchFamily="34" charset="0"/>
              <a:buNone/>
            </a:pPr>
            <a:r>
              <a:rPr lang="en-US" b="1" dirty="0"/>
              <a:t>Diverse Query Execution</a:t>
            </a:r>
          </a:p>
          <a:p>
            <a:pPr marL="0" lvl="1" indent="0">
              <a:buFont typeface="Arial" panose="020B0604020202020204" pitchFamily="34" charset="0"/>
              <a:buNone/>
            </a:pPr>
            <a:r>
              <a:rPr dirty="0"/>
              <a:t>Multiple prompts test the agent’s abilities using different tools and tool-free responses.</a:t>
            </a:r>
            <a:endParaRPr lang="en-US" dirty="0"/>
          </a:p>
          <a:p>
            <a:pPr marL="0" indent="0">
              <a:spcBef>
                <a:spcPts val="2500"/>
              </a:spcBef>
              <a:buFont typeface="Arial" panose="020B0604020202020204" pitchFamily="34" charset="0"/>
              <a:buNone/>
            </a:pPr>
            <a:r>
              <a:rPr lang="en-US" b="1" dirty="0"/>
              <a:t>Agent Reasoning and Synthesis</a:t>
            </a:r>
          </a:p>
          <a:p>
            <a:pPr marL="0" lvl="1" indent="0">
              <a:buFont typeface="Arial" panose="020B0604020202020204" pitchFamily="34" charset="0"/>
              <a:buNone/>
            </a:pPr>
            <a:r>
              <a:rPr dirty="0"/>
              <a:t>The agent reasons through tasks, selects tools, and synthesizes information for accurate answers.</a:t>
            </a:r>
            <a:endParaRPr lang="en-US" dirty="0"/>
          </a:p>
        </p:txBody>
      </p:sp>
    </p:spTree>
    <p:extLst>
      <p:ext uri="{BB962C8B-B14F-4D97-AF65-F5344CB8AC3E}">
        <p14:creationId xmlns:p14="http://schemas.microsoft.com/office/powerpoint/2010/main" val="11978822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BC599-4563-0599-E911-0E05B0635AAE}"/>
              </a:ext>
            </a:extLst>
          </p:cNvPr>
          <p:cNvSpPr>
            <a:spLocks noGrp="1"/>
          </p:cNvSpPr>
          <p:nvPr>
            <p:ph type="title"/>
          </p:nvPr>
        </p:nvSpPr>
        <p:spPr>
          <a:xfrm>
            <a:off x="731520" y="2596896"/>
            <a:ext cx="8933688" cy="3566160"/>
          </a:xfrm>
        </p:spPr>
        <p:txBody>
          <a:bodyPr anchor="b">
            <a:normAutofit/>
          </a:bodyPr>
          <a:lstStyle/>
          <a:p>
            <a:r>
              <a:rPr lang="en-US"/>
              <a:t>Conclusion</a:t>
            </a:r>
          </a:p>
        </p:txBody>
      </p:sp>
    </p:spTree>
    <p:extLst>
      <p:ext uri="{BB962C8B-B14F-4D97-AF65-F5344CB8AC3E}">
        <p14:creationId xmlns:p14="http://schemas.microsoft.com/office/powerpoint/2010/main" val="24995482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A320E-CB3C-5A62-28B7-B1487621903E}"/>
              </a:ext>
            </a:extLst>
          </p:cNvPr>
          <p:cNvSpPr>
            <a:spLocks noGrp="1"/>
          </p:cNvSpPr>
          <p:nvPr>
            <p:ph type="title"/>
          </p:nvPr>
        </p:nvSpPr>
        <p:spPr>
          <a:xfrm>
            <a:off x="4718304" y="310896"/>
            <a:ext cx="6858000" cy="923544"/>
          </a:xfrm>
        </p:spPr>
        <p:txBody>
          <a:bodyPr anchor="b">
            <a:normAutofit/>
          </a:bodyPr>
          <a:lstStyle/>
          <a:p>
            <a:r>
              <a:rPr lang="en-US"/>
              <a:t>Key Takeaways</a:t>
            </a:r>
          </a:p>
        </p:txBody>
      </p:sp>
      <p:pic>
        <p:nvPicPr>
          <p:cNvPr id="5" name="Content Placeholder 4" descr="Woman using cell phone at digital data science display">
            <a:extLst>
              <a:ext uri="{FF2B5EF4-FFF2-40B4-BE49-F238E27FC236}">
                <a16:creationId xmlns:a16="http://schemas.microsoft.com/office/drawing/2014/main" id="{B48DD158-2673-4B51-ADB8-FC3A53E550C3}"/>
              </a:ext>
            </a:extLst>
          </p:cNvPr>
          <p:cNvPicPr>
            <a:picLocks noGrp="1" noChangeAspect="1"/>
          </p:cNvPicPr>
          <p:nvPr>
            <p:ph type="pic" sz="quarter" idx="15"/>
          </p:nvPr>
        </p:nvPicPr>
        <p:blipFill>
          <a:blip r:embed="rId3"/>
          <a:srcRect l="33395" r="25647" b="2"/>
          <a:stretch>
            <a:fillRect/>
          </a:stretch>
        </p:blipFill>
        <p:spPr>
          <a:xfrm>
            <a:off x="603503" y="603504"/>
            <a:ext cx="3192563" cy="5202936"/>
          </a:xfrm>
          <a:prstGeom prst="rect">
            <a:avLst/>
          </a:prstGeom>
          <a:noFill/>
        </p:spPr>
      </p:pic>
      <p:sp>
        <p:nvSpPr>
          <p:cNvPr id="4" name="Content Placeholder 3">
            <a:extLst>
              <a:ext uri="{FF2B5EF4-FFF2-40B4-BE49-F238E27FC236}">
                <a16:creationId xmlns:a16="http://schemas.microsoft.com/office/drawing/2014/main" id="{FF0057A1-C9EA-6C0C-79D2-1E0DA2C36C1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18304" y="1380744"/>
            <a:ext cx="6858000" cy="4608576"/>
          </a:xfrm>
        </p:spPr>
        <p:txBody>
          <a:bodyPr>
            <a:normAutofit/>
          </a:bodyPr>
          <a:lstStyle/>
          <a:p>
            <a:pPr marL="0" indent="0">
              <a:spcBef>
                <a:spcPts val="2500"/>
              </a:spcBef>
              <a:buFont typeface="Arial" panose="020B0604020202020204" pitchFamily="34" charset="0"/>
              <a:buNone/>
            </a:pPr>
            <a:r>
              <a:rPr lang="en-US" b="1"/>
              <a:t>AI Agents Empower LLMs</a:t>
            </a:r>
          </a:p>
          <a:p>
            <a:pPr marL="0" lvl="1" indent="0">
              <a:buFont typeface="Arial" panose="020B0604020202020204" pitchFamily="34" charset="0"/>
              <a:buNone/>
            </a:pPr>
            <a:r>
              <a:t>Agents extend language models by integrating tools for external data interaction and action.</a:t>
            </a:r>
            <a:endParaRPr lang="en-US"/>
          </a:p>
          <a:p>
            <a:pPr marL="0" indent="0">
              <a:spcBef>
                <a:spcPts val="2500"/>
              </a:spcBef>
              <a:buFont typeface="Arial" panose="020B0604020202020204" pitchFamily="34" charset="0"/>
              <a:buNone/>
            </a:pPr>
            <a:r>
              <a:rPr lang="en-US" b="1"/>
              <a:t>Simplified Development</a:t>
            </a:r>
          </a:p>
          <a:p>
            <a:pPr marL="0" lvl="1" indent="0">
              <a:buFont typeface="Arial" panose="020B0604020202020204" pitchFamily="34" charset="0"/>
              <a:buNone/>
            </a:pPr>
            <a:r>
              <a:t>Strands SDK offers an intuitive @tool decorator and supports model-agnostic design for easy agent creation.</a:t>
            </a:r>
            <a:endParaRPr lang="en-US"/>
          </a:p>
          <a:p>
            <a:pPr marL="0" indent="0">
              <a:spcBef>
                <a:spcPts val="2500"/>
              </a:spcBef>
              <a:buFont typeface="Arial" panose="020B0604020202020204" pitchFamily="34" charset="0"/>
              <a:buNone/>
            </a:pPr>
            <a:r>
              <a:rPr lang="en-US" b="1"/>
              <a:t>Intelligent Tool Selection</a:t>
            </a:r>
          </a:p>
          <a:p>
            <a:pPr marL="0" lvl="1" indent="0">
              <a:buFont typeface="Arial" panose="020B0604020202020204" pitchFamily="34" charset="0"/>
              <a:buNone/>
            </a:pPr>
            <a:r>
              <a:t>Agents intelligently select tools by understanding context and executing tasks effectively.</a:t>
            </a:r>
            <a:endParaRPr lang="en-US"/>
          </a:p>
          <a:p>
            <a:pPr marL="0" indent="0">
              <a:spcBef>
                <a:spcPts val="2500"/>
              </a:spcBef>
              <a:buFont typeface="Arial" panose="020B0604020202020204" pitchFamily="34" charset="0"/>
              <a:buNone/>
            </a:pPr>
            <a:r>
              <a:rPr lang="en-US" b="1"/>
              <a:t>Real-World AI Applications</a:t>
            </a:r>
          </a:p>
          <a:p>
            <a:pPr marL="0" lvl="1" indent="0">
              <a:buFont typeface="Arial" panose="020B0604020202020204" pitchFamily="34" charset="0"/>
              <a:buNone/>
            </a:pPr>
            <a:r>
              <a:t>Agents enable advanced applications like data chat, internal helpdesks, and task automation.</a:t>
            </a:r>
            <a:endParaRPr lang="en-US"/>
          </a:p>
        </p:txBody>
      </p:sp>
    </p:spTree>
    <p:extLst>
      <p:ext uri="{BB962C8B-B14F-4D97-AF65-F5344CB8AC3E}">
        <p14:creationId xmlns:p14="http://schemas.microsoft.com/office/powerpoint/2010/main" val="3338848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E753F6F-88D8-493D-A089-0923419088E5}">
  <ds:schemaRefs>
    <ds:schemaRef ds:uri="http://schemas.microsoft.com/sharepoint/v3/contenttype/forms"/>
  </ds:schemaRefs>
</ds:datastoreItem>
</file>

<file path=customXml/itemProps2.xml><?xml version="1.0" encoding="utf-8"?>
<ds:datastoreItem xmlns:ds="http://schemas.openxmlformats.org/officeDocument/2006/customXml" ds:itemID="{5D279CDD-1FB7-427E-9208-ECF0EB941A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04CAC9-4DB9-48D9-8A6F-3675D14127D6}">
  <ds:schemaRefs>
    <ds:schemaRef ds:uri="http://purl.org/dc/dcmitype/"/>
    <ds:schemaRef ds:uri="http://schemas.microsoft.com/office/2006/metadata/properties"/>
    <ds:schemaRef ds:uri="71af3243-3dd4-4a8d-8c0d-dd76da1f02a5"/>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16c05727-aa75-4e4a-9b5f-8a80a1165891"/>
    <ds:schemaRef ds:uri="http://schemas.microsoft.com/sharepoint/v3"/>
    <ds:schemaRef ds:uri="230e9df3-be65-4c73-a93b-d1236ebd677e"/>
    <ds:schemaRef ds:uri="http://www.w3.org/XML/1998/namespace"/>
    <ds:schemaRef ds:uri="http://purl.org/dc/te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GradientRise</Template>
  <TotalTime>274</TotalTime>
  <Words>1459</Words>
  <Application>Microsoft Office PowerPoint</Application>
  <PresentationFormat>Widescreen</PresentationFormat>
  <Paragraphs>99</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Avenir Next LT Pro</vt:lpstr>
      <vt:lpstr>Avenir Next LT Pro Light</vt:lpstr>
      <vt:lpstr>Calibri</vt:lpstr>
      <vt:lpstr>Neue Haas Grotesk Text Pro</vt:lpstr>
      <vt:lpstr>GradientRise</vt:lpstr>
      <vt:lpstr>From Zero to Agent Building</vt:lpstr>
      <vt:lpstr>Introduction</vt:lpstr>
      <vt:lpstr>From Zero to Agent Building</vt:lpstr>
      <vt:lpstr>Understanding the Limitations of LLMs</vt:lpstr>
      <vt:lpstr>The "Brain in a Jar" Problem</vt:lpstr>
      <vt:lpstr>Introducing AI Agents</vt:lpstr>
      <vt:lpstr>The Solution: AI Agents</vt:lpstr>
      <vt:lpstr>Building Agents with strands SDK</vt:lpstr>
      <vt:lpstr>How We Build This: The strands SDK</vt:lpstr>
      <vt:lpstr>Demonstrating a Multi-Tool Agent</vt:lpstr>
      <vt:lpstr>Today's Use Case: A Multi-Tool "Company Brain"</vt:lpstr>
      <vt:lpstr>Live Demonstration</vt:lpstr>
      <vt:lpstr>🚀 LIVE DEMO 🚀</vt:lpstr>
      <vt:lpstr>Conclusion</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Sureddy, Praveen Rao</dc:creator>
  <cp:lastModifiedBy>Sureddy, Praveen Rao</cp:lastModifiedBy>
  <cp:revision>2</cp:revision>
  <dcterms:created xsi:type="dcterms:W3CDTF">2025-08-21T17:09:02Z</dcterms:created>
  <dcterms:modified xsi:type="dcterms:W3CDTF">2025-11-04T13:03:09Z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